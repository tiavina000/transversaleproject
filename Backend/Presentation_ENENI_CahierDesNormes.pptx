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EF353623-F482-46B4-9991-EC91751B4E7B}"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5D3B588E-F375-4BDD-9E9E-82F1745D07AB}"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D914707B-3783-41D8-96EC-D64AE13835F8}"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FB192671-E7EF-41C6-8CB4-1FD59A2AC6A4}"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DB54283D-9869-4165-87EB-BB5AFB0C6421}"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05838456-745D-40A6-89DA-E7AEC3168C1E}"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4572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4572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77CF2E57-5FEB-4DDD-9F56-6FB687B34325}"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5B5159FA-2783-4392-8844-68E901EF488D}"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B5D2F8AA-1CFE-4985-A1B6-3420ABD7EAE4}"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
        <p:nvSpPr>
          <p:cNvPr id="45"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Cliquez pour éditer le format du texte-titre</a:t>
            </a:r>
            <a:endParaRPr b="0" lang="en-US" sz="1800" strike="noStrike" u="none">
              <a:solidFill>
                <a:schemeClr val="dk1"/>
              </a:solidFill>
              <a:effectLst/>
              <a:uFillTx/>
              <a:latin typeface="Calibri"/>
            </a:endParaRPr>
          </a:p>
        </p:txBody>
      </p:sp>
      <p:sp>
        <p:nvSpPr>
          <p:cNvPr id="46"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Cliquez pour éditer le format du plan de texte</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niveau de plan</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Troisième niveau de plan</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Quatrième niveau de plan</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Cinquième niveau de plan</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Sixième niveau de plan</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Septième niveau de plan</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48"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4572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4572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4572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49"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0"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51"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52"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E1494CB3-602B-4435-A884-D595A81163A6}"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4"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Cliquez pour éditer le format du plan de texte</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niveau de plan</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Troisième niveau de plan</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Quatrième niveau de plan</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Cinquième niveau de plan</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Sixième niveau de plan</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Septième niveau de plan</a:t>
            </a:r>
            <a:endParaRPr b="0" lang="en-US" sz="3200" strike="noStrike" u="none">
              <a:solidFill>
                <a:schemeClr val="dk1"/>
              </a:solidFill>
              <a:effectLst/>
              <a:uFillTx/>
              <a:latin typeface="Calibri"/>
            </a:endParaRPr>
          </a:p>
        </p:txBody>
      </p:sp>
      <p:sp>
        <p:nvSpPr>
          <p:cNvPr id="55"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6"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trike="noStrike" u="none">
                <a:solidFill>
                  <a:schemeClr val="dk1">
                    <a:tint val="75000"/>
                  </a:schemeClr>
                </a:solidFill>
                <a:effectLst/>
                <a:uFillTx/>
                <a:latin typeface="Calibri"/>
              </a:defRPr>
            </a:lvl1pPr>
          </a:lstStyle>
          <a:p>
            <a:pPr indent="0" defTabSz="457200">
              <a:lnSpc>
                <a:spcPct val="100000"/>
              </a:lnSpc>
              <a:buNone/>
            </a:pPr>
            <a:r>
              <a:rPr b="0" lang="en-US" sz="1200" strike="noStrike" u="none">
                <a:solidFill>
                  <a:schemeClr val="dk1">
                    <a:tint val="75000"/>
                  </a:schemeClr>
                </a:solidFill>
                <a:effectLst/>
                <a:uFillTx/>
                <a:latin typeface="Calibri"/>
              </a:rPr>
              <a:t>&lt;date/heure&gt;</a:t>
            </a:r>
            <a:endParaRPr b="0" lang="fr-FR" sz="1200" strike="noStrike" u="none">
              <a:solidFill>
                <a:srgbClr val="000000"/>
              </a:solidFill>
              <a:effectLst/>
              <a:uFillTx/>
              <a:latin typeface="Times New Roman"/>
            </a:endParaRPr>
          </a:p>
        </p:txBody>
      </p:sp>
      <p:sp>
        <p:nvSpPr>
          <p:cNvPr id="57"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58"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trike="noStrike" u="none">
                <a:solidFill>
                  <a:schemeClr val="dk1">
                    <a:tint val="75000"/>
                  </a:schemeClr>
                </a:solidFill>
                <a:effectLst/>
                <a:uFillTx/>
                <a:latin typeface="Calibri"/>
              </a:defRPr>
            </a:lvl1pPr>
          </a:lstStyle>
          <a:p>
            <a:pPr indent="0" algn="r" defTabSz="457200">
              <a:lnSpc>
                <a:spcPct val="100000"/>
              </a:lnSpc>
              <a:buNone/>
            </a:pPr>
            <a:fld id="{C3D67E8E-29E9-4BFE-9D47-FD4D02ED034D}" type="slidenum">
              <a:rPr b="0" lang="en-US" sz="1200" strike="noStrike" u="none">
                <a:solidFill>
                  <a:schemeClr val="dk1">
                    <a:tint val="75000"/>
                  </a:schemeClr>
                </a:solidFill>
                <a:effectLst/>
                <a:uFillTx/>
                <a:latin typeface="Calibri"/>
              </a:rPr>
              <a:t>&lt;numéro&gt;</a:t>
            </a:fld>
            <a:endParaRPr b="0" lang="fr-FR"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59" name="Rectangle 1"/>
          <p:cNvSpPr/>
          <p:nvPr/>
        </p:nvSpPr>
        <p:spPr>
          <a:xfrm>
            <a:off x="0" y="0"/>
            <a:ext cx="12191400" cy="292572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 name="Rectangle 2"/>
          <p:cNvSpPr/>
          <p:nvPr/>
        </p:nvSpPr>
        <p:spPr>
          <a:xfrm>
            <a:off x="0" y="2834640"/>
            <a:ext cx="1219140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1" name="Oval 3"/>
          <p:cNvSpPr/>
          <p:nvPr/>
        </p:nvSpPr>
        <p:spPr>
          <a:xfrm>
            <a:off x="10058400" y="457200"/>
            <a:ext cx="2285640" cy="2285640"/>
          </a:xfrm>
          <a:prstGeom prst="ellipse">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2" name="Oval 4"/>
          <p:cNvSpPr/>
          <p:nvPr/>
        </p:nvSpPr>
        <p:spPr>
          <a:xfrm>
            <a:off x="10789920" y="914400"/>
            <a:ext cx="1371240" cy="1371240"/>
          </a:xfrm>
          <a:prstGeom prst="ellipse">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3" name="Oval 5"/>
          <p:cNvSpPr/>
          <p:nvPr/>
        </p:nvSpPr>
        <p:spPr>
          <a:xfrm>
            <a:off x="457200" y="4114800"/>
            <a:ext cx="1645560" cy="1645560"/>
          </a:xfrm>
          <a:prstGeom prst="ellipse">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4" name="TextBox 6"/>
          <p:cNvSpPr/>
          <p:nvPr/>
        </p:nvSpPr>
        <p:spPr>
          <a:xfrm>
            <a:off x="1371600" y="731520"/>
            <a:ext cx="7314840" cy="1371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7200" strike="noStrike" u="none">
                <a:solidFill>
                  <a:srgbClr val="f8fafc"/>
                </a:solidFill>
                <a:effectLst/>
                <a:uFillTx/>
                <a:latin typeface="Calibri"/>
              </a:rPr>
              <a:t>ENENI</a:t>
            </a:r>
            <a:endParaRPr b="0" lang="fr-FR" sz="7200" strike="noStrike" u="none">
              <a:solidFill>
                <a:srgbClr val="ffffff"/>
              </a:solidFill>
              <a:effectLst/>
              <a:uFillTx/>
              <a:latin typeface="Arial"/>
            </a:endParaRPr>
          </a:p>
        </p:txBody>
      </p:sp>
      <p:sp>
        <p:nvSpPr>
          <p:cNvPr id="65" name="TextBox 7"/>
          <p:cNvSpPr/>
          <p:nvPr/>
        </p:nvSpPr>
        <p:spPr>
          <a:xfrm>
            <a:off x="1371600" y="1828800"/>
            <a:ext cx="731484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trike="noStrike" u="none">
                <a:solidFill>
                  <a:srgbClr val="06b6d4"/>
                </a:solidFill>
                <a:effectLst/>
                <a:uFillTx/>
                <a:latin typeface="Calibri"/>
              </a:rPr>
              <a:t>Plateforme Éducative Numérique</a:t>
            </a:r>
            <a:endParaRPr b="0" lang="fr-FR" sz="2800" strike="noStrike" u="none">
              <a:solidFill>
                <a:srgbClr val="ffffff"/>
              </a:solidFill>
              <a:effectLst/>
              <a:uFillTx/>
              <a:latin typeface="Arial"/>
            </a:endParaRPr>
          </a:p>
        </p:txBody>
      </p:sp>
      <p:sp>
        <p:nvSpPr>
          <p:cNvPr id="66" name="TextBox 8"/>
          <p:cNvSpPr/>
          <p:nvPr/>
        </p:nvSpPr>
        <p:spPr>
          <a:xfrm>
            <a:off x="1371600" y="2286000"/>
            <a:ext cx="73148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Cahier des Normes — Présentation du Projet Transversal L2SIO</a:t>
            </a:r>
            <a:endParaRPr b="0" lang="fr-FR" sz="1600" strike="noStrike" u="none">
              <a:solidFill>
                <a:srgbClr val="ffffff"/>
              </a:solidFill>
              <a:effectLst/>
              <a:uFillTx/>
              <a:latin typeface="Arial"/>
            </a:endParaRPr>
          </a:p>
        </p:txBody>
      </p:sp>
      <p:sp>
        <p:nvSpPr>
          <p:cNvPr id="67" name="Rectangle 9"/>
          <p:cNvSpPr/>
          <p:nvPr/>
        </p:nvSpPr>
        <p:spPr>
          <a:xfrm>
            <a:off x="0" y="5303520"/>
            <a:ext cx="12191400" cy="15541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8" name="TextBox 10"/>
          <p:cNvSpPr/>
          <p:nvPr/>
        </p:nvSpPr>
        <p:spPr>
          <a:xfrm>
            <a:off x="1371600" y="5486400"/>
            <a:ext cx="4571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000" strike="noStrike" u="none">
                <a:solidFill>
                  <a:srgbClr val="f59e0b"/>
                </a:solidFill>
                <a:effectLst/>
                <a:uFillTx/>
                <a:latin typeface="Calibri"/>
              </a:rPr>
              <a:t>Architecture, Modules &amp; Services</a:t>
            </a:r>
            <a:endParaRPr b="0" lang="fr-FR" sz="2000" strike="noStrike" u="none">
              <a:solidFill>
                <a:srgbClr val="ffffff"/>
              </a:solidFill>
              <a:effectLst/>
              <a:uFillTx/>
              <a:latin typeface="Arial"/>
            </a:endParaRPr>
          </a:p>
        </p:txBody>
      </p:sp>
      <p:sp>
        <p:nvSpPr>
          <p:cNvPr id="69" name="TextBox 11"/>
          <p:cNvSpPr/>
          <p:nvPr/>
        </p:nvSpPr>
        <p:spPr>
          <a:xfrm>
            <a:off x="1371600" y="5852160"/>
            <a:ext cx="7314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Django REST API | React 19 | LiveKit | IA (Trie, NLP, Graphes)</a:t>
            </a:r>
            <a:endParaRPr b="0" lang="fr-FR" sz="1400" strike="noStrike" u="none">
              <a:solidFill>
                <a:srgbClr val="ffffff"/>
              </a:solidFill>
              <a:effectLst/>
              <a:uFillTx/>
              <a:latin typeface="Arial"/>
            </a:endParaRPr>
          </a:p>
        </p:txBody>
      </p:sp>
      <p:sp>
        <p:nvSpPr>
          <p:cNvPr id="70" name="TextBox 12"/>
          <p:cNvSpPr/>
          <p:nvPr/>
        </p:nvSpPr>
        <p:spPr>
          <a:xfrm>
            <a:off x="7772400" y="6035040"/>
            <a:ext cx="3657240" cy="365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200" strike="noStrike" u="none">
                <a:solidFill>
                  <a:srgbClr val="94a3b8"/>
                </a:solidFill>
                <a:effectLst/>
                <a:uFillTx/>
                <a:latin typeface="Calibri"/>
              </a:rPr>
              <a:t>Projet Transversal L2SIO 2025-2026</a:t>
            </a:r>
            <a:endParaRPr b="0" lang="fr-FR"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71"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2" name="Rectangle 2"/>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3" name="TextBox 3"/>
          <p:cNvSpPr/>
          <p:nvPr/>
        </p:nvSpPr>
        <p:spPr>
          <a:xfrm>
            <a:off x="914400" y="457200"/>
            <a:ext cx="457164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trike="noStrike" u="none">
                <a:solidFill>
                  <a:srgbClr val="f8fafc"/>
                </a:solidFill>
                <a:effectLst/>
                <a:uFillTx/>
                <a:latin typeface="Calibri"/>
              </a:rPr>
              <a:t>SOMMAIRE</a:t>
            </a:r>
            <a:endParaRPr b="0" lang="fr-FR" sz="3600" strike="noStrike" u="none">
              <a:solidFill>
                <a:srgbClr val="ffffff"/>
              </a:solidFill>
              <a:effectLst/>
              <a:uFillTx/>
              <a:latin typeface="Arial"/>
            </a:endParaRPr>
          </a:p>
        </p:txBody>
      </p:sp>
      <p:sp>
        <p:nvSpPr>
          <p:cNvPr id="74" name="Rectangle 4"/>
          <p:cNvSpPr/>
          <p:nvPr/>
        </p:nvSpPr>
        <p:spPr>
          <a:xfrm>
            <a:off x="914400" y="1005840"/>
            <a:ext cx="1828440" cy="3780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6840" bIns="-684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5" name="TextBox 5"/>
          <p:cNvSpPr/>
          <p:nvPr/>
        </p:nvSpPr>
        <p:spPr>
          <a:xfrm>
            <a:off x="1097280" y="137160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01</a:t>
            </a:r>
            <a:endParaRPr b="0" lang="fr-FR" sz="1600" strike="noStrike" u="none">
              <a:solidFill>
                <a:srgbClr val="ffffff"/>
              </a:solidFill>
              <a:effectLst/>
              <a:uFillTx/>
              <a:latin typeface="Arial"/>
            </a:endParaRPr>
          </a:p>
        </p:txBody>
      </p:sp>
      <p:sp>
        <p:nvSpPr>
          <p:cNvPr id="76" name="TextBox 6"/>
          <p:cNvSpPr/>
          <p:nvPr/>
        </p:nvSpPr>
        <p:spPr>
          <a:xfrm>
            <a:off x="1828800" y="137160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Présentation &amp; Contexte</a:t>
            </a:r>
            <a:endParaRPr b="0" lang="fr-FR" sz="1600" strike="noStrike" u="none">
              <a:solidFill>
                <a:srgbClr val="ffffff"/>
              </a:solidFill>
              <a:effectLst/>
              <a:uFillTx/>
              <a:latin typeface="Arial"/>
            </a:endParaRPr>
          </a:p>
        </p:txBody>
      </p:sp>
      <p:sp>
        <p:nvSpPr>
          <p:cNvPr id="77" name="TextBox 7"/>
          <p:cNvSpPr/>
          <p:nvPr/>
        </p:nvSpPr>
        <p:spPr>
          <a:xfrm>
            <a:off x="5943600" y="137160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Qu'est-ce qu'ENENI ? Objectifs et portée du projet</a:t>
            </a:r>
            <a:endParaRPr b="0" lang="fr-FR" sz="1300" strike="noStrike" u="none">
              <a:solidFill>
                <a:srgbClr val="ffffff"/>
              </a:solidFill>
              <a:effectLst/>
              <a:uFillTx/>
              <a:latin typeface="Arial"/>
            </a:endParaRPr>
          </a:p>
        </p:txBody>
      </p:sp>
      <p:sp>
        <p:nvSpPr>
          <p:cNvPr id="78" name="Rectangle 8"/>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9" name="TextBox 9"/>
          <p:cNvSpPr/>
          <p:nvPr/>
        </p:nvSpPr>
        <p:spPr>
          <a:xfrm>
            <a:off x="1097280" y="187452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02</a:t>
            </a:r>
            <a:endParaRPr b="0" lang="fr-FR" sz="1600" strike="noStrike" u="none">
              <a:solidFill>
                <a:srgbClr val="ffffff"/>
              </a:solidFill>
              <a:effectLst/>
              <a:uFillTx/>
              <a:latin typeface="Arial"/>
            </a:endParaRPr>
          </a:p>
        </p:txBody>
      </p:sp>
      <p:sp>
        <p:nvSpPr>
          <p:cNvPr id="80" name="TextBox 10"/>
          <p:cNvSpPr/>
          <p:nvPr/>
        </p:nvSpPr>
        <p:spPr>
          <a:xfrm>
            <a:off x="1828800" y="187452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Architecture Technique</a:t>
            </a:r>
            <a:endParaRPr b="0" lang="fr-FR" sz="1600" strike="noStrike" u="none">
              <a:solidFill>
                <a:srgbClr val="ffffff"/>
              </a:solidFill>
              <a:effectLst/>
              <a:uFillTx/>
              <a:latin typeface="Arial"/>
            </a:endParaRPr>
          </a:p>
        </p:txBody>
      </p:sp>
      <p:sp>
        <p:nvSpPr>
          <p:cNvPr id="81" name="TextBox 11"/>
          <p:cNvSpPr/>
          <p:nvPr/>
        </p:nvSpPr>
        <p:spPr>
          <a:xfrm>
            <a:off x="5943600" y="18745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Structure Django, données, API REST, sécurité JWT</a:t>
            </a:r>
            <a:endParaRPr b="0" lang="fr-FR" sz="1300" strike="noStrike" u="none">
              <a:solidFill>
                <a:srgbClr val="ffffff"/>
              </a:solidFill>
              <a:effectLst/>
              <a:uFillTx/>
              <a:latin typeface="Arial"/>
            </a:endParaRPr>
          </a:p>
        </p:txBody>
      </p:sp>
      <p:sp>
        <p:nvSpPr>
          <p:cNvPr id="82" name="Rectangle 12"/>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3" name="TextBox 13"/>
          <p:cNvSpPr/>
          <p:nvPr/>
        </p:nvSpPr>
        <p:spPr>
          <a:xfrm>
            <a:off x="1097280" y="237744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03</a:t>
            </a:r>
            <a:endParaRPr b="0" lang="fr-FR" sz="1600" strike="noStrike" u="none">
              <a:solidFill>
                <a:srgbClr val="ffffff"/>
              </a:solidFill>
              <a:effectLst/>
              <a:uFillTx/>
              <a:latin typeface="Arial"/>
            </a:endParaRPr>
          </a:p>
        </p:txBody>
      </p:sp>
      <p:sp>
        <p:nvSpPr>
          <p:cNvPr id="84" name="TextBox 14"/>
          <p:cNvSpPr/>
          <p:nvPr/>
        </p:nvSpPr>
        <p:spPr>
          <a:xfrm>
            <a:off x="1828800" y="237744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Gestion des Utilisateurs</a:t>
            </a:r>
            <a:endParaRPr b="0" lang="fr-FR" sz="1600" strike="noStrike" u="none">
              <a:solidFill>
                <a:srgbClr val="ffffff"/>
              </a:solidFill>
              <a:effectLst/>
              <a:uFillTx/>
              <a:latin typeface="Arial"/>
            </a:endParaRPr>
          </a:p>
        </p:txBody>
      </p:sp>
      <p:sp>
        <p:nvSpPr>
          <p:cNvPr id="85" name="TextBox 15"/>
          <p:cNvSpPr/>
          <p:nvPr/>
        </p:nvSpPr>
        <p:spPr>
          <a:xfrm>
            <a:off x="5943600" y="237744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Authentification, rôles, établissements</a:t>
            </a:r>
            <a:endParaRPr b="0" lang="fr-FR" sz="1300" strike="noStrike" u="none">
              <a:solidFill>
                <a:srgbClr val="ffffff"/>
              </a:solidFill>
              <a:effectLst/>
              <a:uFillTx/>
              <a:latin typeface="Arial"/>
            </a:endParaRPr>
          </a:p>
        </p:txBody>
      </p:sp>
      <p:sp>
        <p:nvSpPr>
          <p:cNvPr id="86" name="Rectangle 16"/>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7" name="TextBox 17"/>
          <p:cNvSpPr/>
          <p:nvPr/>
        </p:nvSpPr>
        <p:spPr>
          <a:xfrm>
            <a:off x="1097280" y="288036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04</a:t>
            </a:r>
            <a:endParaRPr b="0" lang="fr-FR" sz="1600" strike="noStrike" u="none">
              <a:solidFill>
                <a:srgbClr val="ffffff"/>
              </a:solidFill>
              <a:effectLst/>
              <a:uFillTx/>
              <a:latin typeface="Arial"/>
            </a:endParaRPr>
          </a:p>
        </p:txBody>
      </p:sp>
      <p:sp>
        <p:nvSpPr>
          <p:cNvPr id="88" name="TextBox 18"/>
          <p:cNvSpPr/>
          <p:nvPr/>
        </p:nvSpPr>
        <p:spPr>
          <a:xfrm>
            <a:off x="1828800" y="288036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Module Pédagogique</a:t>
            </a:r>
            <a:endParaRPr b="0" lang="fr-FR" sz="1600" strike="noStrike" u="none">
              <a:solidFill>
                <a:srgbClr val="ffffff"/>
              </a:solidFill>
              <a:effectLst/>
              <a:uFillTx/>
              <a:latin typeface="Arial"/>
            </a:endParaRPr>
          </a:p>
        </p:txBody>
      </p:sp>
      <p:sp>
        <p:nvSpPr>
          <p:cNvPr id="89" name="TextBox 19"/>
          <p:cNvSpPr/>
          <p:nvPr/>
        </p:nvSpPr>
        <p:spPr>
          <a:xfrm>
            <a:off x="5943600" y="288036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Niveaux, matières, chapitres, leçons, progression</a:t>
            </a:r>
            <a:endParaRPr b="0" lang="fr-FR" sz="1300" strike="noStrike" u="none">
              <a:solidFill>
                <a:srgbClr val="ffffff"/>
              </a:solidFill>
              <a:effectLst/>
              <a:uFillTx/>
              <a:latin typeface="Arial"/>
            </a:endParaRPr>
          </a:p>
        </p:txBody>
      </p:sp>
      <p:sp>
        <p:nvSpPr>
          <p:cNvPr id="90" name="Rectangle 20"/>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1" name="TextBox 21"/>
          <p:cNvSpPr/>
          <p:nvPr/>
        </p:nvSpPr>
        <p:spPr>
          <a:xfrm>
            <a:off x="1097280" y="338328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05</a:t>
            </a:r>
            <a:endParaRPr b="0" lang="fr-FR" sz="1600" strike="noStrike" u="none">
              <a:solidFill>
                <a:srgbClr val="ffffff"/>
              </a:solidFill>
              <a:effectLst/>
              <a:uFillTx/>
              <a:latin typeface="Arial"/>
            </a:endParaRPr>
          </a:p>
        </p:txBody>
      </p:sp>
      <p:sp>
        <p:nvSpPr>
          <p:cNvPr id="92" name="TextBox 22"/>
          <p:cNvSpPr/>
          <p:nvPr/>
        </p:nvSpPr>
        <p:spPr>
          <a:xfrm>
            <a:off x="1828800" y="338328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Système d'Examens</a:t>
            </a:r>
            <a:endParaRPr b="0" lang="fr-FR" sz="1600" strike="noStrike" u="none">
              <a:solidFill>
                <a:srgbClr val="ffffff"/>
              </a:solidFill>
              <a:effectLst/>
              <a:uFillTx/>
              <a:latin typeface="Arial"/>
            </a:endParaRPr>
          </a:p>
        </p:txBody>
      </p:sp>
      <p:sp>
        <p:nvSpPr>
          <p:cNvPr id="93" name="TextBox 23"/>
          <p:cNvSpPr/>
          <p:nvPr/>
        </p:nvSpPr>
        <p:spPr>
          <a:xfrm>
            <a:off x="5943600" y="338328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QCM, correction automatique, surveillance</a:t>
            </a:r>
            <a:endParaRPr b="0" lang="fr-FR" sz="1300" strike="noStrike" u="none">
              <a:solidFill>
                <a:srgbClr val="ffffff"/>
              </a:solidFill>
              <a:effectLst/>
              <a:uFillTx/>
              <a:latin typeface="Arial"/>
            </a:endParaRPr>
          </a:p>
        </p:txBody>
      </p:sp>
      <p:sp>
        <p:nvSpPr>
          <p:cNvPr id="94" name="Rectangle 24"/>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5" name="TextBox 25"/>
          <p:cNvSpPr/>
          <p:nvPr/>
        </p:nvSpPr>
        <p:spPr>
          <a:xfrm>
            <a:off x="1097280" y="388620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06</a:t>
            </a:r>
            <a:endParaRPr b="0" lang="fr-FR" sz="1600" strike="noStrike" u="none">
              <a:solidFill>
                <a:srgbClr val="ffffff"/>
              </a:solidFill>
              <a:effectLst/>
              <a:uFillTx/>
              <a:latin typeface="Arial"/>
            </a:endParaRPr>
          </a:p>
        </p:txBody>
      </p:sp>
      <p:sp>
        <p:nvSpPr>
          <p:cNvPr id="96" name="TextBox 26"/>
          <p:cNvSpPr/>
          <p:nvPr/>
        </p:nvSpPr>
        <p:spPr>
          <a:xfrm>
            <a:off x="1828800" y="388620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Visioconférence &amp; Boutique</a:t>
            </a:r>
            <a:endParaRPr b="0" lang="fr-FR" sz="1600" strike="noStrike" u="none">
              <a:solidFill>
                <a:srgbClr val="ffffff"/>
              </a:solidFill>
              <a:effectLst/>
              <a:uFillTx/>
              <a:latin typeface="Arial"/>
            </a:endParaRPr>
          </a:p>
        </p:txBody>
      </p:sp>
      <p:sp>
        <p:nvSpPr>
          <p:cNvPr id="97" name="TextBox 27"/>
          <p:cNvSpPr/>
          <p:nvPr/>
        </p:nvSpPr>
        <p:spPr>
          <a:xfrm>
            <a:off x="5943600" y="388620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LiveKit, sessions live, e-commerce scolaire</a:t>
            </a:r>
            <a:endParaRPr b="0" lang="fr-FR" sz="1300" strike="noStrike" u="none">
              <a:solidFill>
                <a:srgbClr val="ffffff"/>
              </a:solidFill>
              <a:effectLst/>
              <a:uFillTx/>
              <a:latin typeface="Arial"/>
            </a:endParaRPr>
          </a:p>
        </p:txBody>
      </p:sp>
      <p:sp>
        <p:nvSpPr>
          <p:cNvPr id="98" name="Rectangle 28"/>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99" name="TextBox 29"/>
          <p:cNvSpPr/>
          <p:nvPr/>
        </p:nvSpPr>
        <p:spPr>
          <a:xfrm>
            <a:off x="1097280" y="438912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07</a:t>
            </a:r>
            <a:endParaRPr b="0" lang="fr-FR" sz="1600" strike="noStrike" u="none">
              <a:solidFill>
                <a:srgbClr val="ffffff"/>
              </a:solidFill>
              <a:effectLst/>
              <a:uFillTx/>
              <a:latin typeface="Arial"/>
            </a:endParaRPr>
          </a:p>
        </p:txBody>
      </p:sp>
      <p:sp>
        <p:nvSpPr>
          <p:cNvPr id="100" name="TextBox 30"/>
          <p:cNvSpPr/>
          <p:nvPr/>
        </p:nvSpPr>
        <p:spPr>
          <a:xfrm>
            <a:off x="1828800" y="438912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Communications &amp; Statistiques</a:t>
            </a:r>
            <a:endParaRPr b="0" lang="fr-FR" sz="1600" strike="noStrike" u="none">
              <a:solidFill>
                <a:srgbClr val="ffffff"/>
              </a:solidFill>
              <a:effectLst/>
              <a:uFillTx/>
              <a:latin typeface="Arial"/>
            </a:endParaRPr>
          </a:p>
        </p:txBody>
      </p:sp>
      <p:sp>
        <p:nvSpPr>
          <p:cNvPr id="101" name="TextBox 31"/>
          <p:cNvSpPr/>
          <p:nvPr/>
        </p:nvSpPr>
        <p:spPr>
          <a:xfrm>
            <a:off x="5943600" y="43891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Actualités, notifications, monitoring</a:t>
            </a:r>
            <a:endParaRPr b="0" lang="fr-FR" sz="1300" strike="noStrike" u="none">
              <a:solidFill>
                <a:srgbClr val="ffffff"/>
              </a:solidFill>
              <a:effectLst/>
              <a:uFillTx/>
              <a:latin typeface="Arial"/>
            </a:endParaRPr>
          </a:p>
        </p:txBody>
      </p:sp>
      <p:sp>
        <p:nvSpPr>
          <p:cNvPr id="102" name="Rectangle 32"/>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3" name="TextBox 33"/>
          <p:cNvSpPr/>
          <p:nvPr/>
        </p:nvSpPr>
        <p:spPr>
          <a:xfrm>
            <a:off x="1097280" y="489204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08</a:t>
            </a:r>
            <a:endParaRPr b="0" lang="fr-FR" sz="1600" strike="noStrike" u="none">
              <a:solidFill>
                <a:srgbClr val="ffffff"/>
              </a:solidFill>
              <a:effectLst/>
              <a:uFillTx/>
              <a:latin typeface="Arial"/>
            </a:endParaRPr>
          </a:p>
        </p:txBody>
      </p:sp>
      <p:sp>
        <p:nvSpPr>
          <p:cNvPr id="104" name="TextBox 34"/>
          <p:cNvSpPr/>
          <p:nvPr/>
        </p:nvSpPr>
        <p:spPr>
          <a:xfrm>
            <a:off x="1828800" y="489204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Services IA</a:t>
            </a:r>
            <a:endParaRPr b="0" lang="fr-FR" sz="1600" strike="noStrike" u="none">
              <a:solidFill>
                <a:srgbClr val="ffffff"/>
              </a:solidFill>
              <a:effectLst/>
              <a:uFillTx/>
              <a:latin typeface="Arial"/>
            </a:endParaRPr>
          </a:p>
        </p:txBody>
      </p:sp>
      <p:sp>
        <p:nvSpPr>
          <p:cNvPr id="105" name="TextBox 35"/>
          <p:cNvSpPr/>
          <p:nvPr/>
        </p:nvSpPr>
        <p:spPr>
          <a:xfrm>
            <a:off x="5943600" y="489204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Trie, Scoring, Graphes, Commandes vocales</a:t>
            </a:r>
            <a:endParaRPr b="0" lang="fr-FR" sz="1300" strike="noStrike" u="none">
              <a:solidFill>
                <a:srgbClr val="ffffff"/>
              </a:solidFill>
              <a:effectLst/>
              <a:uFillTx/>
              <a:latin typeface="Arial"/>
            </a:endParaRPr>
          </a:p>
        </p:txBody>
      </p:sp>
      <p:sp>
        <p:nvSpPr>
          <p:cNvPr id="106" name="Rectangle 36"/>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07" name="TextBox 37"/>
          <p:cNvSpPr/>
          <p:nvPr/>
        </p:nvSpPr>
        <p:spPr>
          <a:xfrm>
            <a:off x="1097280" y="539496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09</a:t>
            </a:r>
            <a:endParaRPr b="0" lang="fr-FR" sz="1600" strike="noStrike" u="none">
              <a:solidFill>
                <a:srgbClr val="ffffff"/>
              </a:solidFill>
              <a:effectLst/>
              <a:uFillTx/>
              <a:latin typeface="Arial"/>
            </a:endParaRPr>
          </a:p>
        </p:txBody>
      </p:sp>
      <p:sp>
        <p:nvSpPr>
          <p:cNvPr id="108" name="TextBox 38"/>
          <p:cNvSpPr/>
          <p:nvPr/>
        </p:nvSpPr>
        <p:spPr>
          <a:xfrm>
            <a:off x="1828800" y="539496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Stack Technologique</a:t>
            </a:r>
            <a:endParaRPr b="0" lang="fr-FR" sz="1600" strike="noStrike" u="none">
              <a:solidFill>
                <a:srgbClr val="ffffff"/>
              </a:solidFill>
              <a:effectLst/>
              <a:uFillTx/>
              <a:latin typeface="Arial"/>
            </a:endParaRPr>
          </a:p>
        </p:txBody>
      </p:sp>
      <p:sp>
        <p:nvSpPr>
          <p:cNvPr id="109" name="TextBox 39"/>
          <p:cNvSpPr/>
          <p:nvPr/>
        </p:nvSpPr>
        <p:spPr>
          <a:xfrm>
            <a:off x="5943600" y="539496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Technos, versions, tests</a:t>
            </a:r>
            <a:endParaRPr b="0" lang="fr-FR" sz="1300" strike="noStrike" u="none">
              <a:solidFill>
                <a:srgbClr val="ffffff"/>
              </a:solidFill>
              <a:effectLst/>
              <a:uFillTx/>
              <a:latin typeface="Arial"/>
            </a:endParaRPr>
          </a:p>
        </p:txBody>
      </p:sp>
      <p:sp>
        <p:nvSpPr>
          <p:cNvPr id="110" name="Rectangle 40"/>
          <p:cNvSpPr/>
          <p:nvPr/>
        </p:nvSpPr>
        <p:spPr>
          <a:xfrm>
            <a:off x="1828800" y="0"/>
            <a:ext cx="9143640" cy="12240"/>
          </a:xfrm>
          <a:prstGeom prst="rect">
            <a:avLst/>
          </a:prstGeom>
          <a:solidFill>
            <a:srgbClr val="2d3a4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400" bIns="-324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1" name="TextBox 41"/>
          <p:cNvSpPr/>
          <p:nvPr/>
        </p:nvSpPr>
        <p:spPr>
          <a:xfrm>
            <a:off x="1097280" y="5897880"/>
            <a:ext cx="54828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10</a:t>
            </a:r>
            <a:endParaRPr b="0" lang="fr-FR" sz="1600" strike="noStrike" u="none">
              <a:solidFill>
                <a:srgbClr val="ffffff"/>
              </a:solidFill>
              <a:effectLst/>
              <a:uFillTx/>
              <a:latin typeface="Arial"/>
            </a:endParaRPr>
          </a:p>
        </p:txBody>
      </p:sp>
      <p:sp>
        <p:nvSpPr>
          <p:cNvPr id="112" name="TextBox 42"/>
          <p:cNvSpPr/>
          <p:nvPr/>
        </p:nvSpPr>
        <p:spPr>
          <a:xfrm>
            <a:off x="1828800" y="5897880"/>
            <a:ext cx="36572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Conclusion</a:t>
            </a:r>
            <a:endParaRPr b="0" lang="fr-FR" sz="1600" strike="noStrike" u="none">
              <a:solidFill>
                <a:srgbClr val="ffffff"/>
              </a:solidFill>
              <a:effectLst/>
              <a:uFillTx/>
              <a:latin typeface="Arial"/>
            </a:endParaRPr>
          </a:p>
        </p:txBody>
      </p:sp>
      <p:sp>
        <p:nvSpPr>
          <p:cNvPr id="113" name="TextBox 43"/>
          <p:cNvSpPr/>
          <p:nvPr/>
        </p:nvSpPr>
        <p:spPr>
          <a:xfrm>
            <a:off x="5943600" y="589788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Bilan et perspectives</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14"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5"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16"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01</a:t>
            </a:r>
            <a:endParaRPr b="0" lang="fr-FR" sz="4800" strike="noStrike" u="none">
              <a:solidFill>
                <a:srgbClr val="ffffff"/>
              </a:solidFill>
              <a:effectLst/>
              <a:uFillTx/>
              <a:latin typeface="Arial"/>
            </a:endParaRPr>
          </a:p>
        </p:txBody>
      </p:sp>
      <p:sp>
        <p:nvSpPr>
          <p:cNvPr id="117"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Présentation &amp; Contexte</a:t>
            </a:r>
            <a:endParaRPr b="0" lang="fr-FR" sz="3200" strike="noStrike" u="none">
              <a:solidFill>
                <a:srgbClr val="ffffff"/>
              </a:solidFill>
              <a:effectLst/>
              <a:uFillTx/>
              <a:latin typeface="Arial"/>
            </a:endParaRPr>
          </a:p>
        </p:txBody>
      </p:sp>
      <p:sp>
        <p:nvSpPr>
          <p:cNvPr id="118"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Qu'est-ce qu'ENENI ?</a:t>
            </a:r>
            <a:endParaRPr b="0" lang="fr-FR" sz="1600" strike="noStrike" u="none">
              <a:solidFill>
                <a:srgbClr val="ffffff"/>
              </a:solidFill>
              <a:effectLst/>
              <a:uFillTx/>
              <a:latin typeface="Arial"/>
            </a:endParaRPr>
          </a:p>
        </p:txBody>
      </p:sp>
      <p:sp>
        <p:nvSpPr>
          <p:cNvPr id="119"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0"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1/12</a:t>
            </a:r>
            <a:endParaRPr b="0" lang="fr-FR" sz="1100" strike="noStrike" u="none">
              <a:solidFill>
                <a:srgbClr val="ffffff"/>
              </a:solidFill>
              <a:effectLst/>
              <a:uFillTx/>
              <a:latin typeface="Arial"/>
            </a:endParaRPr>
          </a:p>
        </p:txBody>
      </p:sp>
      <p:sp>
        <p:nvSpPr>
          <p:cNvPr id="121" name="Rounded Rectangle 8"/>
          <p:cNvSpPr/>
          <p:nvPr/>
        </p:nvSpPr>
        <p:spPr>
          <a:xfrm>
            <a:off x="731520" y="3657600"/>
            <a:ext cx="5028840" cy="25599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2" name="TextBox 9"/>
          <p:cNvSpPr/>
          <p:nvPr/>
        </p:nvSpPr>
        <p:spPr>
          <a:xfrm>
            <a:off x="1005840" y="3749040"/>
            <a:ext cx="4571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trike="noStrike" u="none">
                <a:solidFill>
                  <a:srgbClr val="f59e0b"/>
                </a:solidFill>
                <a:effectLst/>
                <a:uFillTx/>
                <a:latin typeface="Calibri"/>
              </a:rPr>
              <a:t>Définition</a:t>
            </a:r>
            <a:endParaRPr b="0" lang="fr-FR" sz="1800" strike="noStrike" u="none">
              <a:solidFill>
                <a:srgbClr val="ffffff"/>
              </a:solidFill>
              <a:effectLst/>
              <a:uFillTx/>
              <a:latin typeface="Arial"/>
            </a:endParaRPr>
          </a:p>
        </p:txBody>
      </p:sp>
      <p:sp>
        <p:nvSpPr>
          <p:cNvPr id="123" name="TextBox 10"/>
          <p:cNvSpPr/>
          <p:nvPr/>
        </p:nvSpPr>
        <p:spPr>
          <a:xfrm>
            <a:off x="1005840" y="4206240"/>
            <a:ext cx="457164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f8fafc"/>
                </a:solidFill>
                <a:effectLst/>
                <a:uFillTx/>
                <a:latin typeface="Calibri"/>
              </a:rPr>
              <a:t>ENENI (Espace Numérique d'Éducation et de Nouvelles Initiatives) est une plateforme éducative numérique destinée aux établissements scolaires malgaches. Elle connecte élèves, enseignants, administrateurs et direction dans un écosystème unifié et sécurisé.</a:t>
            </a:r>
            <a:endParaRPr b="0" lang="fr-FR" sz="1400" strike="noStrike" u="none">
              <a:solidFill>
                <a:srgbClr val="ffffff"/>
              </a:solidFill>
              <a:effectLst/>
              <a:uFillTx/>
              <a:latin typeface="Arial"/>
            </a:endParaRPr>
          </a:p>
        </p:txBody>
      </p:sp>
      <p:sp>
        <p:nvSpPr>
          <p:cNvPr id="124" name="Rounded Rectangle 11"/>
          <p:cNvSpPr/>
          <p:nvPr/>
        </p:nvSpPr>
        <p:spPr>
          <a:xfrm>
            <a:off x="6217920" y="3657600"/>
            <a:ext cx="5303160" cy="25599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5" name="TextBox 12"/>
          <p:cNvSpPr/>
          <p:nvPr/>
        </p:nvSpPr>
        <p:spPr>
          <a:xfrm>
            <a:off x="6492240" y="3749040"/>
            <a:ext cx="4571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trike="noStrike" u="none">
                <a:solidFill>
                  <a:srgbClr val="f59e0b"/>
                </a:solidFill>
                <a:effectLst/>
                <a:uFillTx/>
                <a:latin typeface="Calibri"/>
              </a:rPr>
              <a:t>Objectifs</a:t>
            </a:r>
            <a:endParaRPr b="0" lang="fr-FR" sz="1800" strike="noStrike" u="none">
              <a:solidFill>
                <a:srgbClr val="ffffff"/>
              </a:solidFill>
              <a:effectLst/>
              <a:uFillTx/>
              <a:latin typeface="Arial"/>
            </a:endParaRPr>
          </a:p>
        </p:txBody>
      </p:sp>
      <p:sp>
        <p:nvSpPr>
          <p:cNvPr id="126" name="TextBox 13"/>
          <p:cNvSpPr/>
          <p:nvPr/>
        </p:nvSpPr>
        <p:spPr>
          <a:xfrm>
            <a:off x="6492240" y="4206240"/>
            <a:ext cx="48459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Numériser l'enseignement à Madagascar</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Centraliser ressources pédagogiques et examens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Faciliter la communication école-élève-parent</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Assurer un suivi personnalisé des progrès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Proposer des outils IA d'aide à l'apprentissage</a:t>
            </a:r>
            <a:endParaRPr b="0" lang="fr-FR" sz="1300" strike="noStrike" u="none">
              <a:solidFill>
                <a:srgbClr val="ffffff"/>
              </a:solidFill>
              <a:effectLst/>
              <a:uFillTx/>
              <a:latin typeface="Arial"/>
            </a:endParaRPr>
          </a:p>
        </p:txBody>
      </p:sp>
      <p:sp>
        <p:nvSpPr>
          <p:cNvPr id="127" name="Rectangle 14"/>
          <p:cNvSpPr/>
          <p:nvPr/>
        </p:nvSpPr>
        <p:spPr>
          <a:xfrm>
            <a:off x="0" y="6400800"/>
            <a:ext cx="731484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28" name="TextBox 15"/>
          <p:cNvSpPr/>
          <p:nvPr/>
        </p:nvSpPr>
        <p:spPr>
          <a:xfrm>
            <a:off x="731520" y="630936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Projet Transversal L2SIO 2025-2026 — 21 exigences fonctionnelles (R1 à R21) implémentées</a:t>
            </a:r>
            <a:endParaRPr b="0" lang="fr-FR"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9"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0"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1"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02</a:t>
            </a:r>
            <a:endParaRPr b="0" lang="fr-FR" sz="4800" strike="noStrike" u="none">
              <a:solidFill>
                <a:srgbClr val="ffffff"/>
              </a:solidFill>
              <a:effectLst/>
              <a:uFillTx/>
              <a:latin typeface="Arial"/>
            </a:endParaRPr>
          </a:p>
        </p:txBody>
      </p:sp>
      <p:sp>
        <p:nvSpPr>
          <p:cNvPr id="132"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Architecture Technique</a:t>
            </a:r>
            <a:endParaRPr b="0" lang="fr-FR" sz="3200" strike="noStrike" u="none">
              <a:solidFill>
                <a:srgbClr val="ffffff"/>
              </a:solidFill>
              <a:effectLst/>
              <a:uFillTx/>
              <a:latin typeface="Arial"/>
            </a:endParaRPr>
          </a:p>
        </p:txBody>
      </p:sp>
      <p:sp>
        <p:nvSpPr>
          <p:cNvPr id="133"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Django 6.0 REST API · JWT · Clean Architecture</a:t>
            </a:r>
            <a:endParaRPr b="0" lang="fr-FR" sz="1600" strike="noStrike" u="none">
              <a:solidFill>
                <a:srgbClr val="ffffff"/>
              </a:solidFill>
              <a:effectLst/>
              <a:uFillTx/>
              <a:latin typeface="Arial"/>
            </a:endParaRPr>
          </a:p>
        </p:txBody>
      </p:sp>
      <p:sp>
        <p:nvSpPr>
          <p:cNvPr id="134"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5"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2/12</a:t>
            </a:r>
            <a:endParaRPr b="0" lang="fr-FR" sz="1100" strike="noStrike" u="none">
              <a:solidFill>
                <a:srgbClr val="ffffff"/>
              </a:solidFill>
              <a:effectLst/>
              <a:uFillTx/>
              <a:latin typeface="Arial"/>
            </a:endParaRPr>
          </a:p>
        </p:txBody>
      </p:sp>
      <p:sp>
        <p:nvSpPr>
          <p:cNvPr id="136" name="Rounded Rectangle 8"/>
          <p:cNvSpPr/>
          <p:nvPr/>
        </p:nvSpPr>
        <p:spPr>
          <a:xfrm>
            <a:off x="731520" y="3474720"/>
            <a:ext cx="10515240" cy="502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7" name="Rectangle 9"/>
          <p:cNvSpPr/>
          <p:nvPr/>
        </p:nvSpPr>
        <p:spPr>
          <a:xfrm>
            <a:off x="731520" y="3474720"/>
            <a:ext cx="54360" cy="5025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38" name="TextBox 10"/>
          <p:cNvSpPr/>
          <p:nvPr/>
        </p:nvSpPr>
        <p:spPr>
          <a:xfrm>
            <a:off x="1005840" y="3520440"/>
            <a:ext cx="2742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CLIENT</a:t>
            </a:r>
            <a:endParaRPr b="0" lang="fr-FR" sz="1600" strike="noStrike" u="none">
              <a:solidFill>
                <a:srgbClr val="ffffff"/>
              </a:solidFill>
              <a:effectLst/>
              <a:uFillTx/>
              <a:latin typeface="Arial"/>
            </a:endParaRPr>
          </a:p>
        </p:txBody>
      </p:sp>
      <p:sp>
        <p:nvSpPr>
          <p:cNvPr id="139" name="TextBox 11"/>
          <p:cNvSpPr/>
          <p:nvPr/>
        </p:nvSpPr>
        <p:spPr>
          <a:xfrm>
            <a:off x="5029200" y="352044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React 19 SPA / Mobile</a:t>
            </a:r>
            <a:endParaRPr b="0" lang="fr-FR" sz="1400" strike="noStrike" u="none">
              <a:solidFill>
                <a:srgbClr val="ffffff"/>
              </a:solidFill>
              <a:effectLst/>
              <a:uFillTx/>
              <a:latin typeface="Arial"/>
            </a:endParaRPr>
          </a:p>
        </p:txBody>
      </p:sp>
      <p:sp>
        <p:nvSpPr>
          <p:cNvPr id="140" name="Rounded Rectangle 12"/>
          <p:cNvSpPr/>
          <p:nvPr/>
        </p:nvSpPr>
        <p:spPr>
          <a:xfrm>
            <a:off x="731520" y="4069080"/>
            <a:ext cx="10515240" cy="502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1" name="Rectangle 13"/>
          <p:cNvSpPr/>
          <p:nvPr/>
        </p:nvSpPr>
        <p:spPr>
          <a:xfrm>
            <a:off x="731520" y="4069080"/>
            <a:ext cx="54360" cy="5025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2" name="TextBox 14"/>
          <p:cNvSpPr/>
          <p:nvPr/>
        </p:nvSpPr>
        <p:spPr>
          <a:xfrm>
            <a:off x="1005840" y="4114800"/>
            <a:ext cx="2742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AUTH JWT</a:t>
            </a:r>
            <a:endParaRPr b="0" lang="fr-FR" sz="1600" strike="noStrike" u="none">
              <a:solidFill>
                <a:srgbClr val="ffffff"/>
              </a:solidFill>
              <a:effectLst/>
              <a:uFillTx/>
              <a:latin typeface="Arial"/>
            </a:endParaRPr>
          </a:p>
        </p:txBody>
      </p:sp>
      <p:sp>
        <p:nvSpPr>
          <p:cNvPr id="143" name="TextBox 15"/>
          <p:cNvSpPr/>
          <p:nvPr/>
        </p:nvSpPr>
        <p:spPr>
          <a:xfrm>
            <a:off x="5029200" y="411480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CustomTokenObtainPairView</a:t>
            </a:r>
            <a:endParaRPr b="0" lang="fr-FR" sz="1400" strike="noStrike" u="none">
              <a:solidFill>
                <a:srgbClr val="ffffff"/>
              </a:solidFill>
              <a:effectLst/>
              <a:uFillTx/>
              <a:latin typeface="Arial"/>
            </a:endParaRPr>
          </a:p>
        </p:txBody>
      </p:sp>
      <p:sp>
        <p:nvSpPr>
          <p:cNvPr id="144" name="Rounded Rectangle 16"/>
          <p:cNvSpPr/>
          <p:nvPr/>
        </p:nvSpPr>
        <p:spPr>
          <a:xfrm>
            <a:off x="731520" y="4663440"/>
            <a:ext cx="10515240" cy="502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5" name="Rectangle 17"/>
          <p:cNvSpPr/>
          <p:nvPr/>
        </p:nvSpPr>
        <p:spPr>
          <a:xfrm>
            <a:off x="731520" y="4663440"/>
            <a:ext cx="54360" cy="5025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6" name="TextBox 18"/>
          <p:cNvSpPr/>
          <p:nvPr/>
        </p:nvSpPr>
        <p:spPr>
          <a:xfrm>
            <a:off x="1005840" y="4709160"/>
            <a:ext cx="2742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API REST</a:t>
            </a:r>
            <a:endParaRPr b="0" lang="fr-FR" sz="1600" strike="noStrike" u="none">
              <a:solidFill>
                <a:srgbClr val="ffffff"/>
              </a:solidFill>
              <a:effectLst/>
              <a:uFillTx/>
              <a:latin typeface="Arial"/>
            </a:endParaRPr>
          </a:p>
        </p:txBody>
      </p:sp>
      <p:sp>
        <p:nvSpPr>
          <p:cNvPr id="147" name="TextBox 19"/>
          <p:cNvSpPr/>
          <p:nvPr/>
        </p:nvSpPr>
        <p:spPr>
          <a:xfrm>
            <a:off x="5029200" y="470916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30+ ViewSets · 60+ endpoints</a:t>
            </a:r>
            <a:endParaRPr b="0" lang="fr-FR" sz="1400" strike="noStrike" u="none">
              <a:solidFill>
                <a:srgbClr val="ffffff"/>
              </a:solidFill>
              <a:effectLst/>
              <a:uFillTx/>
              <a:latin typeface="Arial"/>
            </a:endParaRPr>
          </a:p>
        </p:txBody>
      </p:sp>
      <p:sp>
        <p:nvSpPr>
          <p:cNvPr id="148" name="Rounded Rectangle 20"/>
          <p:cNvSpPr/>
          <p:nvPr/>
        </p:nvSpPr>
        <p:spPr>
          <a:xfrm>
            <a:off x="731520" y="5257800"/>
            <a:ext cx="10515240" cy="502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49" name="Rectangle 21"/>
          <p:cNvSpPr/>
          <p:nvPr/>
        </p:nvSpPr>
        <p:spPr>
          <a:xfrm>
            <a:off x="731520" y="5257800"/>
            <a:ext cx="54360" cy="5025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0" name="TextBox 22"/>
          <p:cNvSpPr/>
          <p:nvPr/>
        </p:nvSpPr>
        <p:spPr>
          <a:xfrm>
            <a:off x="1005840" y="5303520"/>
            <a:ext cx="2742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SERVICES</a:t>
            </a:r>
            <a:endParaRPr b="0" lang="fr-FR" sz="1600" strike="noStrike" u="none">
              <a:solidFill>
                <a:srgbClr val="ffffff"/>
              </a:solidFill>
              <a:effectLst/>
              <a:uFillTx/>
              <a:latin typeface="Arial"/>
            </a:endParaRPr>
          </a:p>
        </p:txBody>
      </p:sp>
      <p:sp>
        <p:nvSpPr>
          <p:cNvPr id="151" name="TextBox 23"/>
          <p:cNvSpPr/>
          <p:nvPr/>
        </p:nvSpPr>
        <p:spPr>
          <a:xfrm>
            <a:off x="5029200" y="530352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Trie · Scoring · Graphes · NLP · LiveKit</a:t>
            </a:r>
            <a:endParaRPr b="0" lang="fr-FR" sz="1400" strike="noStrike" u="none">
              <a:solidFill>
                <a:srgbClr val="ffffff"/>
              </a:solidFill>
              <a:effectLst/>
              <a:uFillTx/>
              <a:latin typeface="Arial"/>
            </a:endParaRPr>
          </a:p>
        </p:txBody>
      </p:sp>
      <p:sp>
        <p:nvSpPr>
          <p:cNvPr id="152" name="Rounded Rectangle 24"/>
          <p:cNvSpPr/>
          <p:nvPr/>
        </p:nvSpPr>
        <p:spPr>
          <a:xfrm>
            <a:off x="731520" y="5852160"/>
            <a:ext cx="10515240" cy="502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3" name="Rectangle 25"/>
          <p:cNvSpPr/>
          <p:nvPr/>
        </p:nvSpPr>
        <p:spPr>
          <a:xfrm>
            <a:off x="731520" y="5852160"/>
            <a:ext cx="54360" cy="5025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4" name="TextBox 26"/>
          <p:cNvSpPr/>
          <p:nvPr/>
        </p:nvSpPr>
        <p:spPr>
          <a:xfrm>
            <a:off x="1005840" y="5897880"/>
            <a:ext cx="27428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8fafc"/>
                </a:solidFill>
                <a:effectLst/>
                <a:uFillTx/>
                <a:latin typeface="Calibri"/>
              </a:rPr>
              <a:t>MODÈLES</a:t>
            </a:r>
            <a:endParaRPr b="0" lang="fr-FR" sz="1600" strike="noStrike" u="none">
              <a:solidFill>
                <a:srgbClr val="ffffff"/>
              </a:solidFill>
              <a:effectLst/>
              <a:uFillTx/>
              <a:latin typeface="Arial"/>
            </a:endParaRPr>
          </a:p>
        </p:txBody>
      </p:sp>
      <p:sp>
        <p:nvSpPr>
          <p:cNvPr id="155" name="TextBox 27"/>
          <p:cNvSpPr/>
          <p:nvPr/>
        </p:nvSpPr>
        <p:spPr>
          <a:xfrm>
            <a:off x="5029200" y="5897880"/>
            <a:ext cx="5486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rgbClr val="94a3b8"/>
                </a:solidFill>
                <a:effectLst/>
                <a:uFillTx/>
                <a:latin typeface="Calibri"/>
              </a:rPr>
              <a:t>19 modèles · SQLite/PostgreSQL</a:t>
            </a:r>
            <a:endParaRPr b="0" lang="fr-FR" sz="1400" strike="noStrike" u="none">
              <a:solidFill>
                <a:srgbClr val="ffffff"/>
              </a:solidFill>
              <a:effectLst/>
              <a:uFillTx/>
              <a:latin typeface="Arial"/>
            </a:endParaRPr>
          </a:p>
        </p:txBody>
      </p:sp>
      <p:sp>
        <p:nvSpPr>
          <p:cNvPr id="156" name="Rounded Rectangle 28"/>
          <p:cNvSpPr/>
          <p:nvPr/>
        </p:nvSpPr>
        <p:spPr>
          <a:xfrm>
            <a:off x="731520" y="6400800"/>
            <a:ext cx="10515240" cy="36540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7" name="TextBox 29"/>
          <p:cNvSpPr/>
          <p:nvPr/>
        </p:nvSpPr>
        <p:spPr>
          <a:xfrm>
            <a:off x="914400" y="6400800"/>
            <a:ext cx="100580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f59e0b"/>
                </a:solidFill>
                <a:effectLst/>
                <a:uFillTx/>
                <a:latin typeface="Calibri"/>
              </a:rPr>
              <a:t>Sécurité : JWT · 3 rôles (Étudiant, Enseignant, Admin) · Permissions custom · CORS</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58"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59"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0"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03</a:t>
            </a:r>
            <a:endParaRPr b="0" lang="fr-FR" sz="4800" strike="noStrike" u="none">
              <a:solidFill>
                <a:srgbClr val="ffffff"/>
              </a:solidFill>
              <a:effectLst/>
              <a:uFillTx/>
              <a:latin typeface="Arial"/>
            </a:endParaRPr>
          </a:p>
        </p:txBody>
      </p:sp>
      <p:sp>
        <p:nvSpPr>
          <p:cNvPr id="161"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Gestion des Utilisateurs</a:t>
            </a:r>
            <a:endParaRPr b="0" lang="fr-FR" sz="3200" strike="noStrike" u="none">
              <a:solidFill>
                <a:srgbClr val="ffffff"/>
              </a:solidFill>
              <a:effectLst/>
              <a:uFillTx/>
              <a:latin typeface="Arial"/>
            </a:endParaRPr>
          </a:p>
        </p:txBody>
      </p:sp>
      <p:sp>
        <p:nvSpPr>
          <p:cNvPr id="162"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Rôles · Authentification · Établissements</a:t>
            </a:r>
            <a:endParaRPr b="0" lang="fr-FR" sz="1600" strike="noStrike" u="none">
              <a:solidFill>
                <a:srgbClr val="ffffff"/>
              </a:solidFill>
              <a:effectLst/>
              <a:uFillTx/>
              <a:latin typeface="Arial"/>
            </a:endParaRPr>
          </a:p>
        </p:txBody>
      </p:sp>
      <p:sp>
        <p:nvSpPr>
          <p:cNvPr id="163"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4"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3/12</a:t>
            </a:r>
            <a:endParaRPr b="0" lang="fr-FR" sz="1100" strike="noStrike" u="none">
              <a:solidFill>
                <a:srgbClr val="ffffff"/>
              </a:solidFill>
              <a:effectLst/>
              <a:uFillTx/>
              <a:latin typeface="Arial"/>
            </a:endParaRPr>
          </a:p>
        </p:txBody>
      </p:sp>
      <p:sp>
        <p:nvSpPr>
          <p:cNvPr id="165" name="Rounded Rectangle 8"/>
          <p:cNvSpPr/>
          <p:nvPr/>
        </p:nvSpPr>
        <p:spPr>
          <a:xfrm>
            <a:off x="548640" y="3474720"/>
            <a:ext cx="265140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6" name="Rectangle 9"/>
          <p:cNvSpPr/>
          <p:nvPr/>
        </p:nvSpPr>
        <p:spPr>
          <a:xfrm>
            <a:off x="548640" y="3474720"/>
            <a:ext cx="265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67" name="TextBox 10"/>
          <p:cNvSpPr/>
          <p:nvPr/>
        </p:nvSpPr>
        <p:spPr>
          <a:xfrm>
            <a:off x="731520" y="3749040"/>
            <a:ext cx="2285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f8fafc"/>
                </a:solidFill>
                <a:effectLst/>
                <a:uFillTx/>
                <a:latin typeface="Calibri"/>
              </a:rPr>
              <a:t>Modèle Utilisateur</a:t>
            </a:r>
            <a:endParaRPr b="0" lang="fr-FR" sz="1500" strike="noStrike" u="none">
              <a:solidFill>
                <a:srgbClr val="ffffff"/>
              </a:solidFill>
              <a:effectLst/>
              <a:uFillTx/>
              <a:latin typeface="Arial"/>
            </a:endParaRPr>
          </a:p>
        </p:txBody>
      </p:sp>
      <p:sp>
        <p:nvSpPr>
          <p:cNvPr id="168" name="TextBox 11"/>
          <p:cNvSpPr/>
          <p:nvPr/>
        </p:nvSpPr>
        <p:spPr>
          <a:xfrm>
            <a:off x="731520" y="4297680"/>
            <a:ext cx="228564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AbstractUser personnalisé</a:t>
            </a:r>
            <a:br>
              <a:rPr sz="1200"/>
            </a:br>
            <a:r>
              <a:rPr b="0" lang="en-US" sz="1200" strike="noStrike" u="none">
                <a:solidFill>
                  <a:srgbClr val="94a3b8"/>
                </a:solidFill>
                <a:effectLst/>
                <a:uFillTx/>
                <a:latin typeface="Calibri"/>
              </a:rPr>
              <a:t>prenom, email unique</a:t>
            </a:r>
            <a:br>
              <a:rPr sz="1200"/>
            </a:br>
            <a:r>
              <a:rPr b="0" lang="en-US" sz="1200" strike="noStrike" u="none">
                <a:solidFill>
                  <a:srgbClr val="94a3b8"/>
                </a:solidFill>
                <a:effectLst/>
                <a:uFillTx/>
                <a:latin typeface="Calibri"/>
              </a:rPr>
              <a:t>langue, photo_profil</a:t>
            </a:r>
            <a:br>
              <a:rPr sz="1200"/>
            </a:br>
            <a:r>
              <a:rPr b="0" lang="en-US" sz="1200" strike="noStrike" u="none">
                <a:solidFill>
                  <a:srgbClr val="94a3b8"/>
                </a:solidFill>
                <a:effectLst/>
                <a:uFillTx/>
                <a:latin typeface="Calibri"/>
              </a:rPr>
              <a:t>type_utilisateur</a:t>
            </a:r>
            <a:endParaRPr b="0" lang="fr-FR" sz="1200" strike="noStrike" u="none">
              <a:solidFill>
                <a:srgbClr val="ffffff"/>
              </a:solidFill>
              <a:effectLst/>
              <a:uFillTx/>
              <a:latin typeface="Arial"/>
            </a:endParaRPr>
          </a:p>
        </p:txBody>
      </p:sp>
      <p:sp>
        <p:nvSpPr>
          <p:cNvPr id="169" name="Rounded Rectangle 12"/>
          <p:cNvSpPr/>
          <p:nvPr/>
        </p:nvSpPr>
        <p:spPr>
          <a:xfrm>
            <a:off x="3383280" y="3474720"/>
            <a:ext cx="265140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0" name="Rectangle 13"/>
          <p:cNvSpPr/>
          <p:nvPr/>
        </p:nvSpPr>
        <p:spPr>
          <a:xfrm>
            <a:off x="3383280" y="3474720"/>
            <a:ext cx="265140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1" name="TextBox 14"/>
          <p:cNvSpPr/>
          <p:nvPr/>
        </p:nvSpPr>
        <p:spPr>
          <a:xfrm>
            <a:off x="3566160" y="3749040"/>
            <a:ext cx="2285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f8fafc"/>
                </a:solidFill>
                <a:effectLst/>
                <a:uFillTx/>
                <a:latin typeface="Calibri"/>
              </a:rPr>
              <a:t>3 Rôles</a:t>
            </a:r>
            <a:endParaRPr b="0" lang="fr-FR" sz="1500" strike="noStrike" u="none">
              <a:solidFill>
                <a:srgbClr val="ffffff"/>
              </a:solidFill>
              <a:effectLst/>
              <a:uFillTx/>
              <a:latin typeface="Arial"/>
            </a:endParaRPr>
          </a:p>
        </p:txBody>
      </p:sp>
      <p:sp>
        <p:nvSpPr>
          <p:cNvPr id="172" name="TextBox 15"/>
          <p:cNvSpPr/>
          <p:nvPr/>
        </p:nvSpPr>
        <p:spPr>
          <a:xfrm>
            <a:off x="3566160" y="4297680"/>
            <a:ext cx="228564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ETUDIANT : classes</a:t>
            </a:r>
            <a:br>
              <a:rPr sz="1200"/>
            </a:br>
            <a:r>
              <a:rPr b="0" lang="en-US" sz="1200" strike="noStrike" u="none">
                <a:solidFill>
                  <a:srgbClr val="94a3b8"/>
                </a:solidFill>
                <a:effectLst/>
                <a:uFillTx/>
                <a:latin typeface="Calibri"/>
              </a:rPr>
              <a:t>ENSEIGNANT : cours</a:t>
            </a:r>
            <a:br>
              <a:rPr sz="1200"/>
            </a:br>
            <a:r>
              <a:rPr b="0" lang="en-US" sz="1200" strike="noStrike" u="none">
                <a:solidFill>
                  <a:srgbClr val="94a3b8"/>
                </a:solidFill>
                <a:effectLst/>
                <a:uFillTx/>
                <a:latin typeface="Calibri"/>
              </a:rPr>
              <a:t>ADMINISTRATEUR : gestion</a:t>
            </a:r>
            <a:endParaRPr b="0" lang="fr-FR" sz="1200" strike="noStrike" u="none">
              <a:solidFill>
                <a:srgbClr val="ffffff"/>
              </a:solidFill>
              <a:effectLst/>
              <a:uFillTx/>
              <a:latin typeface="Arial"/>
            </a:endParaRPr>
          </a:p>
        </p:txBody>
      </p:sp>
      <p:sp>
        <p:nvSpPr>
          <p:cNvPr id="173" name="Rounded Rectangle 16"/>
          <p:cNvSpPr/>
          <p:nvPr/>
        </p:nvSpPr>
        <p:spPr>
          <a:xfrm>
            <a:off x="6217920" y="3474720"/>
            <a:ext cx="265140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4" name="Rectangle 17"/>
          <p:cNvSpPr/>
          <p:nvPr/>
        </p:nvSpPr>
        <p:spPr>
          <a:xfrm>
            <a:off x="6217920" y="3474720"/>
            <a:ext cx="265140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5" name="TextBox 18"/>
          <p:cNvSpPr/>
          <p:nvPr/>
        </p:nvSpPr>
        <p:spPr>
          <a:xfrm>
            <a:off x="6400800" y="3749040"/>
            <a:ext cx="2285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f8fafc"/>
                </a:solidFill>
                <a:effectLst/>
                <a:uFillTx/>
                <a:latin typeface="Calibri"/>
              </a:rPr>
              <a:t>Auth Flexible</a:t>
            </a:r>
            <a:endParaRPr b="0" lang="fr-FR" sz="1500" strike="noStrike" u="none">
              <a:solidFill>
                <a:srgbClr val="ffffff"/>
              </a:solidFill>
              <a:effectLst/>
              <a:uFillTx/>
              <a:latin typeface="Arial"/>
            </a:endParaRPr>
          </a:p>
        </p:txBody>
      </p:sp>
      <p:sp>
        <p:nvSpPr>
          <p:cNvPr id="176" name="TextBox 19"/>
          <p:cNvSpPr/>
          <p:nvPr/>
        </p:nvSpPr>
        <p:spPr>
          <a:xfrm>
            <a:off x="6400800" y="4297680"/>
            <a:ext cx="228564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Login par username</a:t>
            </a:r>
            <a:br>
              <a:rPr sz="1200"/>
            </a:br>
            <a:r>
              <a:rPr b="0" lang="en-US" sz="1200" strike="noStrike" u="none">
                <a:solidFill>
                  <a:srgbClr val="94a3b8"/>
                </a:solidFill>
                <a:effectLst/>
                <a:uFillTx/>
                <a:latin typeface="Calibri"/>
              </a:rPr>
              <a:t>email ou numéro étudiant</a:t>
            </a:r>
            <a:br>
              <a:rPr sz="1200"/>
            </a:br>
            <a:r>
              <a:rPr b="0" lang="en-US" sz="1200" strike="noStrike" u="none">
                <a:solidFill>
                  <a:srgbClr val="94a3b8"/>
                </a:solidFill>
                <a:effectLst/>
                <a:uFillTx/>
                <a:latin typeface="Calibri"/>
              </a:rPr>
              <a:t>JWT access + refresh</a:t>
            </a:r>
            <a:br>
              <a:rPr sz="1200"/>
            </a:br>
            <a:r>
              <a:rPr b="0" lang="en-US" sz="1200" strike="noStrike" u="none">
                <a:solidFill>
                  <a:srgbClr val="94a3b8"/>
                </a:solidFill>
                <a:effectLst/>
                <a:uFillTx/>
                <a:latin typeface="Calibri"/>
              </a:rPr>
              <a:t>Case-insensitive</a:t>
            </a:r>
            <a:endParaRPr b="0" lang="fr-FR" sz="1200" strike="noStrike" u="none">
              <a:solidFill>
                <a:srgbClr val="ffffff"/>
              </a:solidFill>
              <a:effectLst/>
              <a:uFillTx/>
              <a:latin typeface="Arial"/>
            </a:endParaRPr>
          </a:p>
        </p:txBody>
      </p:sp>
      <p:sp>
        <p:nvSpPr>
          <p:cNvPr id="177" name="Rounded Rectangle 20"/>
          <p:cNvSpPr/>
          <p:nvPr/>
        </p:nvSpPr>
        <p:spPr>
          <a:xfrm>
            <a:off x="9052560" y="3474720"/>
            <a:ext cx="265140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8" name="Rectangle 21"/>
          <p:cNvSpPr/>
          <p:nvPr/>
        </p:nvSpPr>
        <p:spPr>
          <a:xfrm>
            <a:off x="9052560" y="3474720"/>
            <a:ext cx="2651400" cy="543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79" name="TextBox 22"/>
          <p:cNvSpPr/>
          <p:nvPr/>
        </p:nvSpPr>
        <p:spPr>
          <a:xfrm>
            <a:off x="9235440" y="3749040"/>
            <a:ext cx="2285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500" strike="noStrike" u="none">
                <a:solidFill>
                  <a:srgbClr val="f8fafc"/>
                </a:solidFill>
                <a:effectLst/>
                <a:uFillTx/>
                <a:latin typeface="Calibri"/>
              </a:rPr>
              <a:t>Établissements</a:t>
            </a:r>
            <a:endParaRPr b="0" lang="fr-FR" sz="1500" strike="noStrike" u="none">
              <a:solidFill>
                <a:srgbClr val="ffffff"/>
              </a:solidFill>
              <a:effectLst/>
              <a:uFillTx/>
              <a:latin typeface="Arial"/>
            </a:endParaRPr>
          </a:p>
        </p:txBody>
      </p:sp>
      <p:sp>
        <p:nvSpPr>
          <p:cNvPr id="180" name="TextBox 23"/>
          <p:cNvSpPr/>
          <p:nvPr/>
        </p:nvSpPr>
        <p:spPr>
          <a:xfrm>
            <a:off x="9235440" y="4297680"/>
            <a:ext cx="228564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Lycées, CEG, EPP</a:t>
            </a:r>
            <a:br>
              <a:rPr sz="1200"/>
            </a:br>
            <a:r>
              <a:rPr b="0" lang="en-US" sz="1200" strike="noStrike" u="none">
                <a:solidFill>
                  <a:srgbClr val="94a3b8"/>
                </a:solidFill>
                <a:effectLst/>
                <a:uFillTx/>
                <a:latin typeface="Calibri"/>
              </a:rPr>
              <a:t>Admins d'établissement</a:t>
            </a:r>
            <a:br>
              <a:rPr sz="1200"/>
            </a:br>
            <a:r>
              <a:rPr b="0" lang="en-US" sz="1200" strike="noStrike" u="none">
                <a:solidFill>
                  <a:srgbClr val="94a3b8"/>
                </a:solidFill>
                <a:effectLst/>
                <a:uFillTx/>
                <a:latin typeface="Calibri"/>
              </a:rPr>
              <a:t>Classes par niveau</a:t>
            </a:r>
            <a:br>
              <a:rPr sz="1200"/>
            </a:br>
            <a:r>
              <a:rPr b="0" lang="en-US" sz="1200" strike="noStrike" u="none">
                <a:solidFill>
                  <a:srgbClr val="94a3b8"/>
                </a:solidFill>
                <a:effectLst/>
                <a:uFillTx/>
                <a:latin typeface="Calibri"/>
              </a:rPr>
              <a:t>Validation téléphone</a:t>
            </a:r>
            <a:endParaRPr b="0" lang="fr-FR"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81"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2"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3"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04</a:t>
            </a:r>
            <a:endParaRPr b="0" lang="fr-FR" sz="4800" strike="noStrike" u="none">
              <a:solidFill>
                <a:srgbClr val="ffffff"/>
              </a:solidFill>
              <a:effectLst/>
              <a:uFillTx/>
              <a:latin typeface="Arial"/>
            </a:endParaRPr>
          </a:p>
        </p:txBody>
      </p:sp>
      <p:sp>
        <p:nvSpPr>
          <p:cNvPr id="184"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Module Pédagogique</a:t>
            </a:r>
            <a:endParaRPr b="0" lang="fr-FR" sz="3200" strike="noStrike" u="none">
              <a:solidFill>
                <a:srgbClr val="ffffff"/>
              </a:solidFill>
              <a:effectLst/>
              <a:uFillTx/>
              <a:latin typeface="Arial"/>
            </a:endParaRPr>
          </a:p>
        </p:txBody>
      </p:sp>
      <p:sp>
        <p:nvSpPr>
          <p:cNvPr id="185"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Hiérarchie · Progression · Sessions d'étude</a:t>
            </a:r>
            <a:endParaRPr b="0" lang="fr-FR" sz="1600" strike="noStrike" u="none">
              <a:solidFill>
                <a:srgbClr val="ffffff"/>
              </a:solidFill>
              <a:effectLst/>
              <a:uFillTx/>
              <a:latin typeface="Arial"/>
            </a:endParaRPr>
          </a:p>
        </p:txBody>
      </p:sp>
      <p:sp>
        <p:nvSpPr>
          <p:cNvPr id="186"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7"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4/12</a:t>
            </a:r>
            <a:endParaRPr b="0" lang="fr-FR" sz="1100" strike="noStrike" u="none">
              <a:solidFill>
                <a:srgbClr val="ffffff"/>
              </a:solidFill>
              <a:effectLst/>
              <a:uFillTx/>
              <a:latin typeface="Arial"/>
            </a:endParaRPr>
          </a:p>
        </p:txBody>
      </p:sp>
      <p:sp>
        <p:nvSpPr>
          <p:cNvPr id="188" name="Rounded Rectangle 8"/>
          <p:cNvSpPr/>
          <p:nvPr/>
        </p:nvSpPr>
        <p:spPr>
          <a:xfrm>
            <a:off x="457200" y="3474720"/>
            <a:ext cx="2102760" cy="22856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89" name="Rectangle 9"/>
          <p:cNvSpPr/>
          <p:nvPr/>
        </p:nvSpPr>
        <p:spPr>
          <a:xfrm>
            <a:off x="457200" y="3474720"/>
            <a:ext cx="210276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0" name="TextBox 10"/>
          <p:cNvSpPr/>
          <p:nvPr/>
        </p:nvSpPr>
        <p:spPr>
          <a:xfrm>
            <a:off x="548640" y="393192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Niveaux Scolaires</a:t>
            </a:r>
            <a:endParaRPr b="0" lang="fr-FR" sz="1300" strike="noStrike" u="none">
              <a:solidFill>
                <a:srgbClr val="ffffff"/>
              </a:solidFill>
              <a:effectLst/>
              <a:uFillTx/>
              <a:latin typeface="Arial"/>
            </a:endParaRPr>
          </a:p>
        </p:txBody>
      </p:sp>
      <p:sp>
        <p:nvSpPr>
          <p:cNvPr id="191" name="TextBox 11"/>
          <p:cNvSpPr/>
          <p:nvPr/>
        </p:nvSpPr>
        <p:spPr>
          <a:xfrm>
            <a:off x="548640" y="438912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Maternelle → Terminale</a:t>
            </a:r>
            <a:endParaRPr b="0" lang="fr-FR" sz="1100" strike="noStrike" u="none">
              <a:solidFill>
                <a:srgbClr val="ffffff"/>
              </a:solidFill>
              <a:effectLst/>
              <a:uFillTx/>
              <a:latin typeface="Arial"/>
            </a:endParaRPr>
          </a:p>
        </p:txBody>
      </p:sp>
      <p:sp>
        <p:nvSpPr>
          <p:cNvPr id="192" name="Right Arrow 12"/>
          <p:cNvSpPr/>
          <p:nvPr/>
        </p:nvSpPr>
        <p:spPr>
          <a:xfrm>
            <a:off x="2514600" y="4480560"/>
            <a:ext cx="273960" cy="182520"/>
          </a:xfrm>
          <a:prstGeom prst="rightArrow">
            <a:avLst>
              <a:gd name="adj1" fmla="val 50000"/>
              <a:gd name="adj2"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3" name="Rounded Rectangle 13"/>
          <p:cNvSpPr/>
          <p:nvPr/>
        </p:nvSpPr>
        <p:spPr>
          <a:xfrm>
            <a:off x="2743200" y="3474720"/>
            <a:ext cx="2102760" cy="22856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4" name="Rectangle 14"/>
          <p:cNvSpPr/>
          <p:nvPr/>
        </p:nvSpPr>
        <p:spPr>
          <a:xfrm>
            <a:off x="2743200" y="3474720"/>
            <a:ext cx="210276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5" name="TextBox 15"/>
          <p:cNvSpPr/>
          <p:nvPr/>
        </p:nvSpPr>
        <p:spPr>
          <a:xfrm>
            <a:off x="2834640" y="393192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Matières</a:t>
            </a:r>
            <a:endParaRPr b="0" lang="fr-FR" sz="1300" strike="noStrike" u="none">
              <a:solidFill>
                <a:srgbClr val="ffffff"/>
              </a:solidFill>
              <a:effectLst/>
              <a:uFillTx/>
              <a:latin typeface="Arial"/>
            </a:endParaRPr>
          </a:p>
        </p:txBody>
      </p:sp>
      <p:sp>
        <p:nvSpPr>
          <p:cNvPr id="196" name="TextBox 16"/>
          <p:cNvSpPr/>
          <p:nvPr/>
        </p:nvSpPr>
        <p:spPr>
          <a:xfrm>
            <a:off x="2834640" y="438912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Par niveau scolaire</a:t>
            </a:r>
            <a:endParaRPr b="0" lang="fr-FR" sz="1100" strike="noStrike" u="none">
              <a:solidFill>
                <a:srgbClr val="ffffff"/>
              </a:solidFill>
              <a:effectLst/>
              <a:uFillTx/>
              <a:latin typeface="Arial"/>
            </a:endParaRPr>
          </a:p>
        </p:txBody>
      </p:sp>
      <p:sp>
        <p:nvSpPr>
          <p:cNvPr id="197" name="Right Arrow 17"/>
          <p:cNvSpPr/>
          <p:nvPr/>
        </p:nvSpPr>
        <p:spPr>
          <a:xfrm>
            <a:off x="4800600" y="4480560"/>
            <a:ext cx="273960" cy="182520"/>
          </a:xfrm>
          <a:prstGeom prst="rightArrow">
            <a:avLst>
              <a:gd name="adj1" fmla="val 50000"/>
              <a:gd name="adj2"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8" name="Rounded Rectangle 18"/>
          <p:cNvSpPr/>
          <p:nvPr/>
        </p:nvSpPr>
        <p:spPr>
          <a:xfrm>
            <a:off x="5029200" y="3474720"/>
            <a:ext cx="2102760" cy="22856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199" name="Rectangle 19"/>
          <p:cNvSpPr/>
          <p:nvPr/>
        </p:nvSpPr>
        <p:spPr>
          <a:xfrm>
            <a:off x="5029200" y="3474720"/>
            <a:ext cx="210276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0" name="TextBox 20"/>
          <p:cNvSpPr/>
          <p:nvPr/>
        </p:nvSpPr>
        <p:spPr>
          <a:xfrm>
            <a:off x="5120640" y="393192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Chapitres</a:t>
            </a:r>
            <a:endParaRPr b="0" lang="fr-FR" sz="1300" strike="noStrike" u="none">
              <a:solidFill>
                <a:srgbClr val="ffffff"/>
              </a:solidFill>
              <a:effectLst/>
              <a:uFillTx/>
              <a:latin typeface="Arial"/>
            </a:endParaRPr>
          </a:p>
        </p:txBody>
      </p:sp>
      <p:sp>
        <p:nvSpPr>
          <p:cNvPr id="201" name="TextBox 21"/>
          <p:cNvSpPr/>
          <p:nvPr/>
        </p:nvSpPr>
        <p:spPr>
          <a:xfrm>
            <a:off x="5120640" y="438912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Ordonnés, publiés/non</a:t>
            </a:r>
            <a:endParaRPr b="0" lang="fr-FR" sz="1100" strike="noStrike" u="none">
              <a:solidFill>
                <a:srgbClr val="ffffff"/>
              </a:solidFill>
              <a:effectLst/>
              <a:uFillTx/>
              <a:latin typeface="Arial"/>
            </a:endParaRPr>
          </a:p>
        </p:txBody>
      </p:sp>
      <p:sp>
        <p:nvSpPr>
          <p:cNvPr id="202" name="Right Arrow 22"/>
          <p:cNvSpPr/>
          <p:nvPr/>
        </p:nvSpPr>
        <p:spPr>
          <a:xfrm>
            <a:off x="7086600" y="4480560"/>
            <a:ext cx="273960" cy="182520"/>
          </a:xfrm>
          <a:prstGeom prst="rightArrow">
            <a:avLst>
              <a:gd name="adj1" fmla="val 50000"/>
              <a:gd name="adj2"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3" name="Rounded Rectangle 23"/>
          <p:cNvSpPr/>
          <p:nvPr/>
        </p:nvSpPr>
        <p:spPr>
          <a:xfrm>
            <a:off x="7315200" y="3474720"/>
            <a:ext cx="2102760" cy="22856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4" name="Rectangle 24"/>
          <p:cNvSpPr/>
          <p:nvPr/>
        </p:nvSpPr>
        <p:spPr>
          <a:xfrm>
            <a:off x="7315200" y="3474720"/>
            <a:ext cx="2102760" cy="543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5" name="TextBox 25"/>
          <p:cNvSpPr/>
          <p:nvPr/>
        </p:nvSpPr>
        <p:spPr>
          <a:xfrm>
            <a:off x="7406640" y="393192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Leçons</a:t>
            </a:r>
            <a:endParaRPr b="0" lang="fr-FR" sz="1300" strike="noStrike" u="none">
              <a:solidFill>
                <a:srgbClr val="ffffff"/>
              </a:solidFill>
              <a:effectLst/>
              <a:uFillTx/>
              <a:latin typeface="Arial"/>
            </a:endParaRPr>
          </a:p>
        </p:txBody>
      </p:sp>
      <p:sp>
        <p:nvSpPr>
          <p:cNvPr id="206" name="TextBox 26"/>
          <p:cNvSpPr/>
          <p:nvPr/>
        </p:nvSpPr>
        <p:spPr>
          <a:xfrm>
            <a:off x="7406640" y="438912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Contenu TinyMCE</a:t>
            </a:r>
            <a:endParaRPr b="0" lang="fr-FR" sz="1100" strike="noStrike" u="none">
              <a:solidFill>
                <a:srgbClr val="ffffff"/>
              </a:solidFill>
              <a:effectLst/>
              <a:uFillTx/>
              <a:latin typeface="Arial"/>
            </a:endParaRPr>
          </a:p>
        </p:txBody>
      </p:sp>
      <p:sp>
        <p:nvSpPr>
          <p:cNvPr id="207" name="Right Arrow 27"/>
          <p:cNvSpPr/>
          <p:nvPr/>
        </p:nvSpPr>
        <p:spPr>
          <a:xfrm>
            <a:off x="9372600" y="4480560"/>
            <a:ext cx="273960" cy="182520"/>
          </a:xfrm>
          <a:prstGeom prst="rightArrow">
            <a:avLst>
              <a:gd name="adj1" fmla="val 50000"/>
              <a:gd name="adj2" fmla="val 50000"/>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8" name="Rounded Rectangle 28"/>
          <p:cNvSpPr/>
          <p:nvPr/>
        </p:nvSpPr>
        <p:spPr>
          <a:xfrm>
            <a:off x="9601200" y="3474720"/>
            <a:ext cx="2102760" cy="22856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09" name="Rectangle 29"/>
          <p:cNvSpPr/>
          <p:nvPr/>
        </p:nvSpPr>
        <p:spPr>
          <a:xfrm>
            <a:off x="9601200" y="3474720"/>
            <a:ext cx="2102760" cy="543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0" name="TextBox 30"/>
          <p:cNvSpPr/>
          <p:nvPr/>
        </p:nvSpPr>
        <p:spPr>
          <a:xfrm>
            <a:off x="9692640" y="393192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Fichiers</a:t>
            </a:r>
            <a:endParaRPr b="0" lang="fr-FR" sz="1300" strike="noStrike" u="none">
              <a:solidFill>
                <a:srgbClr val="ffffff"/>
              </a:solidFill>
              <a:effectLst/>
              <a:uFillTx/>
              <a:latin typeface="Arial"/>
            </a:endParaRPr>
          </a:p>
        </p:txBody>
      </p:sp>
      <p:sp>
        <p:nvSpPr>
          <p:cNvPr id="211" name="TextBox 31"/>
          <p:cNvSpPr/>
          <p:nvPr/>
        </p:nvSpPr>
        <p:spPr>
          <a:xfrm>
            <a:off x="9692640" y="438912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PDF, vidéos, audio</a:t>
            </a:r>
            <a:endParaRPr b="0" lang="fr-FR" sz="1100" strike="noStrike" u="none">
              <a:solidFill>
                <a:srgbClr val="ffffff"/>
              </a:solidFill>
              <a:effectLst/>
              <a:uFillTx/>
              <a:latin typeface="Arial"/>
            </a:endParaRPr>
          </a:p>
        </p:txBody>
      </p:sp>
      <p:sp>
        <p:nvSpPr>
          <p:cNvPr id="212" name="Rounded Rectangle 32"/>
          <p:cNvSpPr/>
          <p:nvPr/>
        </p:nvSpPr>
        <p:spPr>
          <a:xfrm>
            <a:off x="457200" y="6035040"/>
            <a:ext cx="11246760" cy="639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3" name="TextBox 33"/>
          <p:cNvSpPr/>
          <p:nvPr/>
        </p:nvSpPr>
        <p:spPr>
          <a:xfrm>
            <a:off x="731520" y="6080760"/>
            <a:ext cx="1078956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f8fafc"/>
                </a:solidFill>
                <a:effectLst/>
                <a:uFillTx/>
                <a:latin typeface="Calibri"/>
              </a:rPr>
              <a:t>Progression : ProgressionChapitre + SessionEtude → Suivi personnalisé  |  Permissions : Étudiants → leçons publiées de leur niveau, Enseignants → brouillons + publiés</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14"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5"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16"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05</a:t>
            </a:r>
            <a:endParaRPr b="0" lang="fr-FR" sz="4800" strike="noStrike" u="none">
              <a:solidFill>
                <a:srgbClr val="ffffff"/>
              </a:solidFill>
              <a:effectLst/>
              <a:uFillTx/>
              <a:latin typeface="Arial"/>
            </a:endParaRPr>
          </a:p>
        </p:txBody>
      </p:sp>
      <p:sp>
        <p:nvSpPr>
          <p:cNvPr id="217"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Système d'Examens</a:t>
            </a:r>
            <a:endParaRPr b="0" lang="fr-FR" sz="3200" strike="noStrike" u="none">
              <a:solidFill>
                <a:srgbClr val="ffffff"/>
              </a:solidFill>
              <a:effectLst/>
              <a:uFillTx/>
              <a:latin typeface="Arial"/>
            </a:endParaRPr>
          </a:p>
        </p:txBody>
      </p:sp>
      <p:sp>
        <p:nvSpPr>
          <p:cNvPr id="218"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QCM · Correction auto · Surveillance · Notation</a:t>
            </a:r>
            <a:endParaRPr b="0" lang="fr-FR" sz="1600" strike="noStrike" u="none">
              <a:solidFill>
                <a:srgbClr val="ffffff"/>
              </a:solidFill>
              <a:effectLst/>
              <a:uFillTx/>
              <a:latin typeface="Arial"/>
            </a:endParaRPr>
          </a:p>
        </p:txBody>
      </p:sp>
      <p:sp>
        <p:nvSpPr>
          <p:cNvPr id="219"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0"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5/12</a:t>
            </a:r>
            <a:endParaRPr b="0" lang="fr-FR" sz="1100" strike="noStrike" u="none">
              <a:solidFill>
                <a:srgbClr val="ffffff"/>
              </a:solidFill>
              <a:effectLst/>
              <a:uFillTx/>
              <a:latin typeface="Arial"/>
            </a:endParaRPr>
          </a:p>
        </p:txBody>
      </p:sp>
      <p:sp>
        <p:nvSpPr>
          <p:cNvPr id="221" name="Rounded Rectangle 8"/>
          <p:cNvSpPr/>
          <p:nvPr/>
        </p:nvSpPr>
        <p:spPr>
          <a:xfrm>
            <a:off x="457200" y="3474720"/>
            <a:ext cx="2102760" cy="1645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2" name="Rectangle 9"/>
          <p:cNvSpPr/>
          <p:nvPr/>
        </p:nvSpPr>
        <p:spPr>
          <a:xfrm>
            <a:off x="457200" y="3474720"/>
            <a:ext cx="210276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3" name="TextBox 10"/>
          <p:cNvSpPr/>
          <p:nvPr/>
        </p:nvSpPr>
        <p:spPr>
          <a:xfrm>
            <a:off x="548640" y="3749040"/>
            <a:ext cx="191988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4f46e5"/>
                </a:solidFill>
                <a:effectLst/>
                <a:uFillTx/>
                <a:latin typeface="Calibri"/>
              </a:rPr>
              <a:t>QCM</a:t>
            </a:r>
            <a:endParaRPr b="0" lang="fr-FR" sz="1600" strike="noStrike" u="none">
              <a:solidFill>
                <a:srgbClr val="ffffff"/>
              </a:solidFill>
              <a:effectLst/>
              <a:uFillTx/>
              <a:latin typeface="Arial"/>
            </a:endParaRPr>
          </a:p>
        </p:txBody>
      </p:sp>
      <p:sp>
        <p:nvSpPr>
          <p:cNvPr id="224" name="TextBox 11"/>
          <p:cNvSpPr/>
          <p:nvPr/>
        </p:nvSpPr>
        <p:spPr>
          <a:xfrm>
            <a:off x="548640" y="420624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Choix multiples</a:t>
            </a:r>
            <a:endParaRPr b="0" lang="fr-FR" sz="1100" strike="noStrike" u="none">
              <a:solidFill>
                <a:srgbClr val="ffffff"/>
              </a:solidFill>
              <a:effectLst/>
              <a:uFillTx/>
              <a:latin typeface="Arial"/>
            </a:endParaRPr>
          </a:p>
        </p:txBody>
      </p:sp>
      <p:sp>
        <p:nvSpPr>
          <p:cNvPr id="225" name="Rounded Rectangle 12"/>
          <p:cNvSpPr/>
          <p:nvPr/>
        </p:nvSpPr>
        <p:spPr>
          <a:xfrm>
            <a:off x="2743200" y="3474720"/>
            <a:ext cx="2102760" cy="1645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6" name="Rectangle 13"/>
          <p:cNvSpPr/>
          <p:nvPr/>
        </p:nvSpPr>
        <p:spPr>
          <a:xfrm>
            <a:off x="2743200" y="3474720"/>
            <a:ext cx="210276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27" name="TextBox 14"/>
          <p:cNvSpPr/>
          <p:nvPr/>
        </p:nvSpPr>
        <p:spPr>
          <a:xfrm>
            <a:off x="2834640" y="3749040"/>
            <a:ext cx="191988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06b6d4"/>
                </a:solidFill>
                <a:effectLst/>
                <a:uFillTx/>
                <a:latin typeface="Calibri"/>
              </a:rPr>
              <a:t>V/F</a:t>
            </a:r>
            <a:endParaRPr b="0" lang="fr-FR" sz="1600" strike="noStrike" u="none">
              <a:solidFill>
                <a:srgbClr val="ffffff"/>
              </a:solidFill>
              <a:effectLst/>
              <a:uFillTx/>
              <a:latin typeface="Arial"/>
            </a:endParaRPr>
          </a:p>
        </p:txBody>
      </p:sp>
      <p:sp>
        <p:nvSpPr>
          <p:cNvPr id="228" name="TextBox 15"/>
          <p:cNvSpPr/>
          <p:nvPr/>
        </p:nvSpPr>
        <p:spPr>
          <a:xfrm>
            <a:off x="2834640" y="420624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Binaire</a:t>
            </a:r>
            <a:endParaRPr b="0" lang="fr-FR" sz="1100" strike="noStrike" u="none">
              <a:solidFill>
                <a:srgbClr val="ffffff"/>
              </a:solidFill>
              <a:effectLst/>
              <a:uFillTx/>
              <a:latin typeface="Arial"/>
            </a:endParaRPr>
          </a:p>
        </p:txBody>
      </p:sp>
      <p:sp>
        <p:nvSpPr>
          <p:cNvPr id="229" name="Rounded Rectangle 16"/>
          <p:cNvSpPr/>
          <p:nvPr/>
        </p:nvSpPr>
        <p:spPr>
          <a:xfrm>
            <a:off x="5029200" y="3474720"/>
            <a:ext cx="2102760" cy="1645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0" name="Rectangle 17"/>
          <p:cNvSpPr/>
          <p:nvPr/>
        </p:nvSpPr>
        <p:spPr>
          <a:xfrm>
            <a:off x="5029200" y="3474720"/>
            <a:ext cx="210276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1" name="TextBox 18"/>
          <p:cNvSpPr/>
          <p:nvPr/>
        </p:nvSpPr>
        <p:spPr>
          <a:xfrm>
            <a:off x="5120640" y="3749040"/>
            <a:ext cx="191988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f59e0b"/>
                </a:solidFill>
                <a:effectLst/>
                <a:uFillTx/>
                <a:latin typeface="Calibri"/>
              </a:rPr>
              <a:t>TEXTE</a:t>
            </a:r>
            <a:endParaRPr b="0" lang="fr-FR" sz="1600" strike="noStrike" u="none">
              <a:solidFill>
                <a:srgbClr val="ffffff"/>
              </a:solidFill>
              <a:effectLst/>
              <a:uFillTx/>
              <a:latin typeface="Arial"/>
            </a:endParaRPr>
          </a:p>
        </p:txBody>
      </p:sp>
      <p:sp>
        <p:nvSpPr>
          <p:cNvPr id="232" name="TextBox 19"/>
          <p:cNvSpPr/>
          <p:nvPr/>
        </p:nvSpPr>
        <p:spPr>
          <a:xfrm>
            <a:off x="5120640" y="420624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Réponse courte</a:t>
            </a:r>
            <a:endParaRPr b="0" lang="fr-FR" sz="1100" strike="noStrike" u="none">
              <a:solidFill>
                <a:srgbClr val="ffffff"/>
              </a:solidFill>
              <a:effectLst/>
              <a:uFillTx/>
              <a:latin typeface="Arial"/>
            </a:endParaRPr>
          </a:p>
        </p:txBody>
      </p:sp>
      <p:sp>
        <p:nvSpPr>
          <p:cNvPr id="233" name="Rounded Rectangle 20"/>
          <p:cNvSpPr/>
          <p:nvPr/>
        </p:nvSpPr>
        <p:spPr>
          <a:xfrm>
            <a:off x="7315200" y="3474720"/>
            <a:ext cx="2102760" cy="1645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4" name="Rectangle 21"/>
          <p:cNvSpPr/>
          <p:nvPr/>
        </p:nvSpPr>
        <p:spPr>
          <a:xfrm>
            <a:off x="7315200" y="3474720"/>
            <a:ext cx="2102760" cy="543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5" name="TextBox 22"/>
          <p:cNvSpPr/>
          <p:nvPr/>
        </p:nvSpPr>
        <p:spPr>
          <a:xfrm>
            <a:off x="7406640" y="3749040"/>
            <a:ext cx="191988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10b981"/>
                </a:solidFill>
                <a:effectLst/>
                <a:uFillTx/>
                <a:latin typeface="Calibri"/>
              </a:rPr>
              <a:t>NUM</a:t>
            </a:r>
            <a:endParaRPr b="0" lang="fr-FR" sz="1600" strike="noStrike" u="none">
              <a:solidFill>
                <a:srgbClr val="ffffff"/>
              </a:solidFill>
              <a:effectLst/>
              <a:uFillTx/>
              <a:latin typeface="Arial"/>
            </a:endParaRPr>
          </a:p>
        </p:txBody>
      </p:sp>
      <p:sp>
        <p:nvSpPr>
          <p:cNvPr id="236" name="TextBox 23"/>
          <p:cNvSpPr/>
          <p:nvPr/>
        </p:nvSpPr>
        <p:spPr>
          <a:xfrm>
            <a:off x="7406640" y="420624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Numérique</a:t>
            </a:r>
            <a:endParaRPr b="0" lang="fr-FR" sz="1100" strike="noStrike" u="none">
              <a:solidFill>
                <a:srgbClr val="ffffff"/>
              </a:solidFill>
              <a:effectLst/>
              <a:uFillTx/>
              <a:latin typeface="Arial"/>
            </a:endParaRPr>
          </a:p>
        </p:txBody>
      </p:sp>
      <p:sp>
        <p:nvSpPr>
          <p:cNvPr id="237" name="Rounded Rectangle 24"/>
          <p:cNvSpPr/>
          <p:nvPr/>
        </p:nvSpPr>
        <p:spPr>
          <a:xfrm>
            <a:off x="9601200" y="3474720"/>
            <a:ext cx="2102760" cy="16455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8" name="Rectangle 25"/>
          <p:cNvSpPr/>
          <p:nvPr/>
        </p:nvSpPr>
        <p:spPr>
          <a:xfrm>
            <a:off x="9601200" y="3474720"/>
            <a:ext cx="2102760" cy="543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39" name="TextBox 26"/>
          <p:cNvSpPr/>
          <p:nvPr/>
        </p:nvSpPr>
        <p:spPr>
          <a:xfrm>
            <a:off x="9692640" y="3749040"/>
            <a:ext cx="191988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600" strike="noStrike" u="none">
                <a:solidFill>
                  <a:srgbClr val="3730a3"/>
                </a:solidFill>
                <a:effectLst/>
                <a:uFillTx/>
                <a:latin typeface="Calibri"/>
              </a:rPr>
              <a:t>RÉDAC</a:t>
            </a:r>
            <a:endParaRPr b="0" lang="fr-FR" sz="1600" strike="noStrike" u="none">
              <a:solidFill>
                <a:srgbClr val="ffffff"/>
              </a:solidFill>
              <a:effectLst/>
              <a:uFillTx/>
              <a:latin typeface="Arial"/>
            </a:endParaRPr>
          </a:p>
        </p:txBody>
      </p:sp>
      <p:sp>
        <p:nvSpPr>
          <p:cNvPr id="240" name="TextBox 27"/>
          <p:cNvSpPr/>
          <p:nvPr/>
        </p:nvSpPr>
        <p:spPr>
          <a:xfrm>
            <a:off x="9692640" y="4206240"/>
            <a:ext cx="1919880" cy="73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Dissertation</a:t>
            </a:r>
            <a:endParaRPr b="0" lang="fr-FR" sz="1100" strike="noStrike" u="none">
              <a:solidFill>
                <a:srgbClr val="ffffff"/>
              </a:solidFill>
              <a:effectLst/>
              <a:uFillTx/>
              <a:latin typeface="Arial"/>
            </a:endParaRPr>
          </a:p>
        </p:txBody>
      </p:sp>
      <p:sp>
        <p:nvSpPr>
          <p:cNvPr id="241" name="TextBox 28"/>
          <p:cNvSpPr/>
          <p:nvPr/>
        </p:nvSpPr>
        <p:spPr>
          <a:xfrm>
            <a:off x="1280160" y="5394960"/>
            <a:ext cx="27428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f8fafc"/>
                </a:solidFill>
                <a:effectLst/>
                <a:uFillTx/>
                <a:latin typeface="Calibri"/>
              </a:rPr>
              <a:t>Correction auto</a:t>
            </a:r>
            <a:endParaRPr b="0" lang="fr-FR" sz="1400" strike="noStrike" u="none">
              <a:solidFill>
                <a:srgbClr val="ffffff"/>
              </a:solidFill>
              <a:effectLst/>
              <a:uFillTx/>
              <a:latin typeface="Arial"/>
            </a:endParaRPr>
          </a:p>
        </p:txBody>
      </p:sp>
      <p:sp>
        <p:nvSpPr>
          <p:cNvPr id="242" name="TextBox 29"/>
          <p:cNvSpPr/>
          <p:nvPr/>
        </p:nvSpPr>
        <p:spPr>
          <a:xfrm>
            <a:off x="4114800" y="5394960"/>
            <a:ext cx="6400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QCM et V/F corrigés instantanément</a:t>
            </a:r>
            <a:endParaRPr b="0" lang="fr-FR" sz="1300" strike="noStrike" u="none">
              <a:solidFill>
                <a:srgbClr val="ffffff"/>
              </a:solidFill>
              <a:effectLst/>
              <a:uFillTx/>
              <a:latin typeface="Arial"/>
            </a:endParaRPr>
          </a:p>
        </p:txBody>
      </p:sp>
      <p:sp>
        <p:nvSpPr>
          <p:cNvPr id="243" name="TextBox 30"/>
          <p:cNvSpPr/>
          <p:nvPr/>
        </p:nvSpPr>
        <p:spPr>
          <a:xfrm>
            <a:off x="1280160" y="5760720"/>
            <a:ext cx="27428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f8fafc"/>
                </a:solidFill>
                <a:effectLst/>
                <a:uFillTx/>
                <a:latin typeface="Calibri"/>
              </a:rPr>
              <a:t>Surveillance</a:t>
            </a:r>
            <a:endParaRPr b="0" lang="fr-FR" sz="1400" strike="noStrike" u="none">
              <a:solidFill>
                <a:srgbClr val="ffffff"/>
              </a:solidFill>
              <a:effectLst/>
              <a:uFillTx/>
              <a:latin typeface="Arial"/>
            </a:endParaRPr>
          </a:p>
        </p:txBody>
      </p:sp>
      <p:sp>
        <p:nvSpPr>
          <p:cNvPr id="244" name="TextBox 31"/>
          <p:cNvSpPr/>
          <p:nvPr/>
        </p:nvSpPr>
        <p:spPr>
          <a:xfrm>
            <a:off x="4114800" y="5760720"/>
            <a:ext cx="6400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LogSurveillance : détection changement d'onglet</a:t>
            </a:r>
            <a:endParaRPr b="0" lang="fr-FR" sz="1300" strike="noStrike" u="none">
              <a:solidFill>
                <a:srgbClr val="ffffff"/>
              </a:solidFill>
              <a:effectLst/>
              <a:uFillTx/>
              <a:latin typeface="Arial"/>
            </a:endParaRPr>
          </a:p>
        </p:txBody>
      </p:sp>
      <p:sp>
        <p:nvSpPr>
          <p:cNvPr id="245" name="TextBox 32"/>
          <p:cNvSpPr/>
          <p:nvPr/>
        </p:nvSpPr>
        <p:spPr>
          <a:xfrm>
            <a:off x="1280160" y="6126480"/>
            <a:ext cx="27428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f8fafc"/>
                </a:solidFill>
                <a:effectLst/>
                <a:uFillTx/>
                <a:latin typeface="Calibri"/>
              </a:rPr>
              <a:t>Timer</a:t>
            </a:r>
            <a:endParaRPr b="0" lang="fr-FR" sz="1400" strike="noStrike" u="none">
              <a:solidFill>
                <a:srgbClr val="ffffff"/>
              </a:solidFill>
              <a:effectLst/>
              <a:uFillTx/>
              <a:latin typeface="Arial"/>
            </a:endParaRPr>
          </a:p>
        </p:txBody>
      </p:sp>
      <p:sp>
        <p:nvSpPr>
          <p:cNvPr id="246" name="TextBox 33"/>
          <p:cNvSpPr/>
          <p:nvPr/>
        </p:nvSpPr>
        <p:spPr>
          <a:xfrm>
            <a:off x="4114800" y="6126480"/>
            <a:ext cx="6400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Chronométrage automatique par examen</a:t>
            </a:r>
            <a:endParaRPr b="0" lang="fr-FR" sz="1300" strike="noStrike" u="none">
              <a:solidFill>
                <a:srgbClr val="ffffff"/>
              </a:solidFill>
              <a:effectLst/>
              <a:uFillTx/>
              <a:latin typeface="Arial"/>
            </a:endParaRPr>
          </a:p>
        </p:txBody>
      </p:sp>
      <p:sp>
        <p:nvSpPr>
          <p:cNvPr id="247" name="TextBox 34"/>
          <p:cNvSpPr/>
          <p:nvPr/>
        </p:nvSpPr>
        <p:spPr>
          <a:xfrm>
            <a:off x="1280160" y="6492240"/>
            <a:ext cx="27428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f8fafc"/>
                </a:solidFill>
                <a:effectLst/>
                <a:uFillTx/>
                <a:latin typeface="Calibri"/>
              </a:rPr>
              <a:t>Workflow</a:t>
            </a:r>
            <a:endParaRPr b="0" lang="fr-FR" sz="1400" strike="noStrike" u="none">
              <a:solidFill>
                <a:srgbClr val="ffffff"/>
              </a:solidFill>
              <a:effectLst/>
              <a:uFillTx/>
              <a:latin typeface="Arial"/>
            </a:endParaRPr>
          </a:p>
        </p:txBody>
      </p:sp>
      <p:sp>
        <p:nvSpPr>
          <p:cNvPr id="248" name="TextBox 35"/>
          <p:cNvSpPr/>
          <p:nvPr/>
        </p:nvSpPr>
        <p:spPr>
          <a:xfrm>
            <a:off x="4114800" y="6492240"/>
            <a:ext cx="6400440" cy="27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trike="noStrike" u="none">
                <a:solidFill>
                  <a:srgbClr val="94a3b8"/>
                </a:solidFill>
                <a:effectLst/>
                <a:uFillTx/>
                <a:latin typeface="Calibri"/>
              </a:rPr>
              <a:t>Démarrer → Répondre → Soumettre → Corriger → Valider</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49"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0"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1"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06</a:t>
            </a:r>
            <a:endParaRPr b="0" lang="fr-FR" sz="4800" strike="noStrike" u="none">
              <a:solidFill>
                <a:srgbClr val="ffffff"/>
              </a:solidFill>
              <a:effectLst/>
              <a:uFillTx/>
              <a:latin typeface="Arial"/>
            </a:endParaRPr>
          </a:p>
        </p:txBody>
      </p:sp>
      <p:sp>
        <p:nvSpPr>
          <p:cNvPr id="252"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Visioconférence &amp; Boutique</a:t>
            </a:r>
            <a:endParaRPr b="0" lang="fr-FR" sz="3200" strike="noStrike" u="none">
              <a:solidFill>
                <a:srgbClr val="ffffff"/>
              </a:solidFill>
              <a:effectLst/>
              <a:uFillTx/>
              <a:latin typeface="Arial"/>
            </a:endParaRPr>
          </a:p>
        </p:txBody>
      </p:sp>
      <p:sp>
        <p:nvSpPr>
          <p:cNvPr id="253"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LiveKit · Sessions live · E-Commerce scolaire</a:t>
            </a:r>
            <a:endParaRPr b="0" lang="fr-FR" sz="1600" strike="noStrike" u="none">
              <a:solidFill>
                <a:srgbClr val="ffffff"/>
              </a:solidFill>
              <a:effectLst/>
              <a:uFillTx/>
              <a:latin typeface="Arial"/>
            </a:endParaRPr>
          </a:p>
        </p:txBody>
      </p:sp>
      <p:sp>
        <p:nvSpPr>
          <p:cNvPr id="254"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5"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6/12</a:t>
            </a:r>
            <a:endParaRPr b="0" lang="fr-FR" sz="1100" strike="noStrike" u="none">
              <a:solidFill>
                <a:srgbClr val="ffffff"/>
              </a:solidFill>
              <a:effectLst/>
              <a:uFillTx/>
              <a:latin typeface="Arial"/>
            </a:endParaRPr>
          </a:p>
        </p:txBody>
      </p:sp>
      <p:sp>
        <p:nvSpPr>
          <p:cNvPr id="256" name="Rounded Rectangle 8"/>
          <p:cNvSpPr/>
          <p:nvPr/>
        </p:nvSpPr>
        <p:spPr>
          <a:xfrm>
            <a:off x="548640" y="3474720"/>
            <a:ext cx="530316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7" name="Rectangle 9"/>
          <p:cNvSpPr/>
          <p:nvPr/>
        </p:nvSpPr>
        <p:spPr>
          <a:xfrm>
            <a:off x="548640" y="3474720"/>
            <a:ext cx="530316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8" name="TextBox 10"/>
          <p:cNvSpPr/>
          <p:nvPr/>
        </p:nvSpPr>
        <p:spPr>
          <a:xfrm>
            <a:off x="822960" y="3749040"/>
            <a:ext cx="4571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trike="noStrike" u="none">
                <a:solidFill>
                  <a:srgbClr val="06b6d4"/>
                </a:solidFill>
                <a:effectLst/>
                <a:uFillTx/>
                <a:latin typeface="Calibri"/>
              </a:rPr>
              <a:t>Visioconférence (LiveKit)</a:t>
            </a:r>
            <a:endParaRPr b="0" lang="fr-FR" sz="1800" strike="noStrike" u="none">
              <a:solidFill>
                <a:srgbClr val="ffffff"/>
              </a:solidFill>
              <a:effectLst/>
              <a:uFillTx/>
              <a:latin typeface="Arial"/>
            </a:endParaRPr>
          </a:p>
        </p:txBody>
      </p:sp>
      <p:sp>
        <p:nvSpPr>
          <p:cNvPr id="259" name="TextBox 11"/>
          <p:cNvSpPr/>
          <p:nvPr/>
        </p:nvSpPr>
        <p:spPr>
          <a:xfrm>
            <a:off x="822960" y="4206240"/>
            <a:ext cx="48459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WebRTC via LiveKit</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Sessions live avec participants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Lever/baisser la main</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Questions en direct</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Bannissement d'utilisateurs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Génération de tokens sécurisée</a:t>
            </a:r>
            <a:endParaRPr b="0" lang="fr-FR" sz="1300" strike="noStrike" u="none">
              <a:solidFill>
                <a:srgbClr val="ffffff"/>
              </a:solidFill>
              <a:effectLst/>
              <a:uFillTx/>
              <a:latin typeface="Arial"/>
            </a:endParaRPr>
          </a:p>
        </p:txBody>
      </p:sp>
      <p:sp>
        <p:nvSpPr>
          <p:cNvPr id="260" name="Rounded Rectangle 12"/>
          <p:cNvSpPr/>
          <p:nvPr/>
        </p:nvSpPr>
        <p:spPr>
          <a:xfrm>
            <a:off x="6217920" y="3474720"/>
            <a:ext cx="530316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1" name="Rectangle 13"/>
          <p:cNvSpPr/>
          <p:nvPr/>
        </p:nvSpPr>
        <p:spPr>
          <a:xfrm>
            <a:off x="6217920" y="3474720"/>
            <a:ext cx="530316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2" name="TextBox 14"/>
          <p:cNvSpPr/>
          <p:nvPr/>
        </p:nvSpPr>
        <p:spPr>
          <a:xfrm>
            <a:off x="6492240" y="3749040"/>
            <a:ext cx="4571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trike="noStrike" u="none">
                <a:solidFill>
                  <a:srgbClr val="f59e0b"/>
                </a:solidFill>
                <a:effectLst/>
                <a:uFillTx/>
                <a:latin typeface="Calibri"/>
              </a:rPr>
              <a:t>Boutique &amp; E-Commerce</a:t>
            </a:r>
            <a:endParaRPr b="0" lang="fr-FR" sz="1800" strike="noStrike" u="none">
              <a:solidFill>
                <a:srgbClr val="ffffff"/>
              </a:solidFill>
              <a:effectLst/>
              <a:uFillTx/>
              <a:latin typeface="Arial"/>
            </a:endParaRPr>
          </a:p>
        </p:txBody>
      </p:sp>
      <p:sp>
        <p:nvSpPr>
          <p:cNvPr id="263" name="TextBox 15"/>
          <p:cNvSpPr/>
          <p:nvPr/>
        </p:nvSpPr>
        <p:spPr>
          <a:xfrm>
            <a:off x="6492240" y="4206240"/>
            <a:ext cx="48459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Ressources : LIVRE, EXERCICES, COURS, VIDÉO</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Panier d'achat avec gestion d'articles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Commandes : EN_ATTENTE → PAYÉE → LIVRÉE</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Téléchargement de fichiers sécurisé</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64"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5"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66"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07</a:t>
            </a:r>
            <a:endParaRPr b="0" lang="fr-FR" sz="4800" strike="noStrike" u="none">
              <a:solidFill>
                <a:srgbClr val="ffffff"/>
              </a:solidFill>
              <a:effectLst/>
              <a:uFillTx/>
              <a:latin typeface="Arial"/>
            </a:endParaRPr>
          </a:p>
        </p:txBody>
      </p:sp>
      <p:sp>
        <p:nvSpPr>
          <p:cNvPr id="267"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Communications &amp; Statistiques</a:t>
            </a:r>
            <a:endParaRPr b="0" lang="fr-FR" sz="3200" strike="noStrike" u="none">
              <a:solidFill>
                <a:srgbClr val="ffffff"/>
              </a:solidFill>
              <a:effectLst/>
              <a:uFillTx/>
              <a:latin typeface="Arial"/>
            </a:endParaRPr>
          </a:p>
        </p:txBody>
      </p:sp>
      <p:sp>
        <p:nvSpPr>
          <p:cNvPr id="268"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Actualités · Notifications · Monitoring</a:t>
            </a:r>
            <a:endParaRPr b="0" lang="fr-FR" sz="1600" strike="noStrike" u="none">
              <a:solidFill>
                <a:srgbClr val="ffffff"/>
              </a:solidFill>
              <a:effectLst/>
              <a:uFillTx/>
              <a:latin typeface="Arial"/>
            </a:endParaRPr>
          </a:p>
        </p:txBody>
      </p:sp>
      <p:sp>
        <p:nvSpPr>
          <p:cNvPr id="269"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0"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7/12</a:t>
            </a:r>
            <a:endParaRPr b="0" lang="fr-FR" sz="1100" strike="noStrike" u="none">
              <a:solidFill>
                <a:srgbClr val="ffffff"/>
              </a:solidFill>
              <a:effectLst/>
              <a:uFillTx/>
              <a:latin typeface="Arial"/>
            </a:endParaRPr>
          </a:p>
        </p:txBody>
      </p:sp>
      <p:sp>
        <p:nvSpPr>
          <p:cNvPr id="271" name="Rounded Rectangle 8"/>
          <p:cNvSpPr/>
          <p:nvPr/>
        </p:nvSpPr>
        <p:spPr>
          <a:xfrm>
            <a:off x="457200" y="3474720"/>
            <a:ext cx="3565800" cy="27428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2" name="Rectangle 9"/>
          <p:cNvSpPr/>
          <p:nvPr/>
        </p:nvSpPr>
        <p:spPr>
          <a:xfrm>
            <a:off x="457200" y="3474720"/>
            <a:ext cx="35658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3" name="TextBox 10"/>
          <p:cNvSpPr/>
          <p:nvPr/>
        </p:nvSpPr>
        <p:spPr>
          <a:xfrm>
            <a:off x="731520" y="3749040"/>
            <a:ext cx="3017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4f46e5"/>
                </a:solidFill>
                <a:effectLst/>
                <a:uFillTx/>
                <a:latin typeface="Calibri"/>
              </a:rPr>
              <a:t>Actualités</a:t>
            </a:r>
            <a:endParaRPr b="0" lang="fr-FR" sz="1600" strike="noStrike" u="none">
              <a:solidFill>
                <a:srgbClr val="ffffff"/>
              </a:solidFill>
              <a:effectLst/>
              <a:uFillTx/>
              <a:latin typeface="Arial"/>
            </a:endParaRPr>
          </a:p>
        </p:txBody>
      </p:sp>
      <p:sp>
        <p:nvSpPr>
          <p:cNvPr id="274" name="TextBox 11"/>
          <p:cNvSpPr/>
          <p:nvPr/>
        </p:nvSpPr>
        <p:spPr>
          <a:xfrm>
            <a:off x="731520" y="4206240"/>
            <a:ext cx="30171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Fil d'actualités infini</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Catégories : Examens, Cours, Événements, Annonces, Sports, Culture</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Contenu multilingue (fr, mg, en)</a:t>
            </a:r>
            <a:endParaRPr b="0" lang="fr-FR" sz="1300" strike="noStrike" u="none">
              <a:solidFill>
                <a:srgbClr val="ffffff"/>
              </a:solidFill>
              <a:effectLst/>
              <a:uFillTx/>
              <a:latin typeface="Arial"/>
            </a:endParaRPr>
          </a:p>
        </p:txBody>
      </p:sp>
      <p:sp>
        <p:nvSpPr>
          <p:cNvPr id="275" name="Rounded Rectangle 12"/>
          <p:cNvSpPr/>
          <p:nvPr/>
        </p:nvSpPr>
        <p:spPr>
          <a:xfrm>
            <a:off x="4297680" y="3474720"/>
            <a:ext cx="3565800" cy="27428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6" name="Rectangle 13"/>
          <p:cNvSpPr/>
          <p:nvPr/>
        </p:nvSpPr>
        <p:spPr>
          <a:xfrm>
            <a:off x="4297680" y="3474720"/>
            <a:ext cx="356580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77" name="TextBox 14"/>
          <p:cNvSpPr/>
          <p:nvPr/>
        </p:nvSpPr>
        <p:spPr>
          <a:xfrm>
            <a:off x="4572000" y="3749040"/>
            <a:ext cx="3017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06b6d4"/>
                </a:solidFill>
                <a:effectLst/>
                <a:uFillTx/>
                <a:latin typeface="Calibri"/>
              </a:rPr>
              <a:t>Notifications</a:t>
            </a:r>
            <a:endParaRPr b="0" lang="fr-FR" sz="1600" strike="noStrike" u="none">
              <a:solidFill>
                <a:srgbClr val="ffffff"/>
              </a:solidFill>
              <a:effectLst/>
              <a:uFillTx/>
              <a:latin typeface="Arial"/>
            </a:endParaRPr>
          </a:p>
        </p:txBody>
      </p:sp>
      <p:sp>
        <p:nvSpPr>
          <p:cNvPr id="278" name="TextBox 15"/>
          <p:cNvSpPr/>
          <p:nvPr/>
        </p:nvSpPr>
        <p:spPr>
          <a:xfrm>
            <a:off x="4572000" y="4206240"/>
            <a:ext cx="30171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Marquer comme lu / tout lire</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Compteur de notifications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Notifications visio &amp; bannissement</a:t>
            </a:r>
            <a:endParaRPr b="0" lang="fr-FR" sz="1300" strike="noStrike" u="none">
              <a:solidFill>
                <a:srgbClr val="ffffff"/>
              </a:solidFill>
              <a:effectLst/>
              <a:uFillTx/>
              <a:latin typeface="Arial"/>
            </a:endParaRPr>
          </a:p>
        </p:txBody>
      </p:sp>
      <p:sp>
        <p:nvSpPr>
          <p:cNvPr id="279" name="Rounded Rectangle 16"/>
          <p:cNvSpPr/>
          <p:nvPr/>
        </p:nvSpPr>
        <p:spPr>
          <a:xfrm>
            <a:off x="8138160" y="3474720"/>
            <a:ext cx="3565800" cy="27428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0" name="Rectangle 17"/>
          <p:cNvSpPr/>
          <p:nvPr/>
        </p:nvSpPr>
        <p:spPr>
          <a:xfrm>
            <a:off x="8138160" y="3474720"/>
            <a:ext cx="356580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1" name="TextBox 18"/>
          <p:cNvSpPr/>
          <p:nvPr/>
        </p:nvSpPr>
        <p:spPr>
          <a:xfrm>
            <a:off x="8412480" y="3749040"/>
            <a:ext cx="30171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600" strike="noStrike" u="none">
                <a:solidFill>
                  <a:srgbClr val="f59e0b"/>
                </a:solidFill>
                <a:effectLst/>
                <a:uFillTx/>
                <a:latin typeface="Calibri"/>
              </a:rPr>
              <a:t>Statistiques</a:t>
            </a:r>
            <a:endParaRPr b="0" lang="fr-FR" sz="1600" strike="noStrike" u="none">
              <a:solidFill>
                <a:srgbClr val="ffffff"/>
              </a:solidFill>
              <a:effectLst/>
              <a:uFillTx/>
              <a:latin typeface="Arial"/>
            </a:endParaRPr>
          </a:p>
        </p:txBody>
      </p:sp>
      <p:sp>
        <p:nvSpPr>
          <p:cNvPr id="282" name="TextBox 19"/>
          <p:cNvSpPr/>
          <p:nvPr/>
        </p:nvSpPr>
        <p:spPr>
          <a:xfrm>
            <a:off x="8412480" y="4206240"/>
            <a:ext cx="30171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300" strike="noStrike" u="none">
                <a:solidFill>
                  <a:srgbClr val="f8fafc"/>
                </a:solidFill>
                <a:effectLst/>
                <a:uFillTx/>
                <a:latin typeface="Calibri"/>
              </a:rPr>
              <a:t>Globales : utilisateurs, écoles, leçons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Étudiant : temps d'étude, exercices validés</a:t>
            </a:r>
            <a:endParaRPr b="0" lang="fr-FR" sz="1300" strike="noStrike" u="none">
              <a:solidFill>
                <a:srgbClr val="ffffff"/>
              </a:solidFill>
              <a:effectLst/>
              <a:uFillTx/>
              <a:latin typeface="Arial"/>
            </a:endParaRPr>
          </a:p>
          <a:p>
            <a:pPr defTabSz="457200">
              <a:lnSpc>
                <a:spcPct val="100000"/>
              </a:lnSpc>
              <a:spcAft>
                <a:spcPts val="601"/>
              </a:spcAft>
            </a:pPr>
            <a:r>
              <a:rPr b="0" lang="en-US" sz="1300" strike="noStrike" u="none">
                <a:solidFill>
                  <a:srgbClr val="f8fafc"/>
                </a:solidFill>
                <a:effectLst/>
                <a:uFillTx/>
                <a:latin typeface="Calibri"/>
              </a:rPr>
              <a:t>Enseignant : cours, élèves, notes</a:t>
            </a:r>
            <a:endParaRPr b="0" lang="fr-FR"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283"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4"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5"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08</a:t>
            </a:r>
            <a:endParaRPr b="0" lang="fr-FR" sz="4800" strike="noStrike" u="none">
              <a:solidFill>
                <a:srgbClr val="ffffff"/>
              </a:solidFill>
              <a:effectLst/>
              <a:uFillTx/>
              <a:latin typeface="Arial"/>
            </a:endParaRPr>
          </a:p>
        </p:txBody>
      </p:sp>
      <p:sp>
        <p:nvSpPr>
          <p:cNvPr id="286"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Services Intelligence Artificielle</a:t>
            </a:r>
            <a:endParaRPr b="0" lang="fr-FR" sz="3200" strike="noStrike" u="none">
              <a:solidFill>
                <a:srgbClr val="ffffff"/>
              </a:solidFill>
              <a:effectLst/>
              <a:uFillTx/>
              <a:latin typeface="Arial"/>
            </a:endParaRPr>
          </a:p>
        </p:txBody>
      </p:sp>
      <p:sp>
        <p:nvSpPr>
          <p:cNvPr id="287"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Trie · Scoring · Graphes · NLP · 4 services</a:t>
            </a:r>
            <a:endParaRPr b="0" lang="fr-FR" sz="1600" strike="noStrike" u="none">
              <a:solidFill>
                <a:srgbClr val="ffffff"/>
              </a:solidFill>
              <a:effectLst/>
              <a:uFillTx/>
              <a:latin typeface="Arial"/>
            </a:endParaRPr>
          </a:p>
        </p:txBody>
      </p:sp>
      <p:sp>
        <p:nvSpPr>
          <p:cNvPr id="288"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89"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8/12</a:t>
            </a:r>
            <a:endParaRPr b="0" lang="fr-FR" sz="1100" strike="noStrike" u="none">
              <a:solidFill>
                <a:srgbClr val="ffffff"/>
              </a:solidFill>
              <a:effectLst/>
              <a:uFillTx/>
              <a:latin typeface="Arial"/>
            </a:endParaRPr>
          </a:p>
        </p:txBody>
      </p:sp>
      <p:sp>
        <p:nvSpPr>
          <p:cNvPr id="290" name="Rounded Rectangle 8"/>
          <p:cNvSpPr/>
          <p:nvPr/>
        </p:nvSpPr>
        <p:spPr>
          <a:xfrm>
            <a:off x="457200" y="3474720"/>
            <a:ext cx="269712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1" name="Rectangle 9"/>
          <p:cNvSpPr/>
          <p:nvPr/>
        </p:nvSpPr>
        <p:spPr>
          <a:xfrm>
            <a:off x="457200" y="3474720"/>
            <a:ext cx="269712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2" name="TextBox 10"/>
          <p:cNvSpPr/>
          <p:nvPr/>
        </p:nvSpPr>
        <p:spPr>
          <a:xfrm>
            <a:off x="731520" y="3749040"/>
            <a:ext cx="21027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4f46e5"/>
                </a:solidFill>
                <a:effectLst/>
                <a:uFillTx/>
                <a:latin typeface="Calibri"/>
              </a:rPr>
              <a:t>NavigationTrie (Trie)</a:t>
            </a:r>
            <a:endParaRPr b="0" lang="fr-FR" sz="1400" strike="noStrike" u="none">
              <a:solidFill>
                <a:srgbClr val="ffffff"/>
              </a:solidFill>
              <a:effectLst/>
              <a:uFillTx/>
              <a:latin typeface="Arial"/>
            </a:endParaRPr>
          </a:p>
        </p:txBody>
      </p:sp>
      <p:sp>
        <p:nvSpPr>
          <p:cNvPr id="293" name="TextBox 11"/>
          <p:cNvSpPr/>
          <p:nvPr/>
        </p:nvSpPr>
        <p:spPr>
          <a:xfrm>
            <a:off x="640080" y="4389120"/>
            <a:ext cx="23313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Arbre préfixe pour recherche</a:t>
            </a:r>
            <a:br>
              <a:rPr sz="1200"/>
            </a:br>
            <a:r>
              <a:rPr b="0" lang="en-US" sz="1200" strike="noStrike" u="none">
                <a:solidFill>
                  <a:srgbClr val="94a3b8"/>
                </a:solidFill>
                <a:effectLst/>
                <a:uFillTx/>
                <a:latin typeface="Calibri"/>
              </a:rPr>
              <a:t>ultra-rapide</a:t>
            </a:r>
            <a:br>
              <a:rPr sz="1200"/>
            </a:br>
            <a:r>
              <a:rPr b="0" lang="en-US" sz="1200" strike="noStrike" u="none">
                <a:solidFill>
                  <a:srgbClr val="94a3b8"/>
                </a:solidFill>
                <a:effectLst/>
                <a:uFillTx/>
                <a:latin typeface="Calibri"/>
              </a:rPr>
              <a:t>Autocomplétion sur matières,</a:t>
            </a:r>
            <a:br>
              <a:rPr sz="1200"/>
            </a:br>
            <a:r>
              <a:rPr b="0" lang="en-US" sz="1200" strike="noStrike" u="none">
                <a:solidFill>
                  <a:srgbClr val="94a3b8"/>
                </a:solidFill>
                <a:effectLst/>
                <a:uFillTx/>
                <a:latin typeface="Calibri"/>
              </a:rPr>
              <a:t>chapitres, leçons</a:t>
            </a:r>
            <a:br>
              <a:rPr sz="1200"/>
            </a:br>
            <a:r>
              <a:rPr b="0" lang="en-US" sz="1200" strike="noStrike" u="none">
                <a:solidFill>
                  <a:srgbClr val="94a3b8"/>
                </a:solidFill>
                <a:effectLst/>
                <a:uFillTx/>
                <a:latin typeface="Calibri"/>
              </a:rPr>
              <a:t>Singleton in-memory</a:t>
            </a:r>
            <a:endParaRPr b="0" lang="fr-FR" sz="1200" strike="noStrike" u="none">
              <a:solidFill>
                <a:srgbClr val="ffffff"/>
              </a:solidFill>
              <a:effectLst/>
              <a:uFillTx/>
              <a:latin typeface="Arial"/>
            </a:endParaRPr>
          </a:p>
        </p:txBody>
      </p:sp>
      <p:sp>
        <p:nvSpPr>
          <p:cNvPr id="294" name="Rounded Rectangle 12"/>
          <p:cNvSpPr/>
          <p:nvPr/>
        </p:nvSpPr>
        <p:spPr>
          <a:xfrm>
            <a:off x="3337560" y="3474720"/>
            <a:ext cx="269712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5" name="Rectangle 13"/>
          <p:cNvSpPr/>
          <p:nvPr/>
        </p:nvSpPr>
        <p:spPr>
          <a:xfrm>
            <a:off x="3337560" y="3474720"/>
            <a:ext cx="269712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6" name="TextBox 14"/>
          <p:cNvSpPr/>
          <p:nvPr/>
        </p:nvSpPr>
        <p:spPr>
          <a:xfrm>
            <a:off x="3611880" y="3749040"/>
            <a:ext cx="21027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06b6d4"/>
                </a:solidFill>
                <a:effectLst/>
                <a:uFillTx/>
                <a:latin typeface="Calibri"/>
              </a:rPr>
              <a:t>ScoringService</a:t>
            </a:r>
            <a:endParaRPr b="0" lang="fr-FR" sz="1400" strike="noStrike" u="none">
              <a:solidFill>
                <a:srgbClr val="ffffff"/>
              </a:solidFill>
              <a:effectLst/>
              <a:uFillTx/>
              <a:latin typeface="Arial"/>
            </a:endParaRPr>
          </a:p>
        </p:txBody>
      </p:sp>
      <p:sp>
        <p:nvSpPr>
          <p:cNvPr id="297" name="TextBox 15"/>
          <p:cNvSpPr/>
          <p:nvPr/>
        </p:nvSpPr>
        <p:spPr>
          <a:xfrm>
            <a:off x="3520440" y="4389120"/>
            <a:ext cx="23313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Analyse de performances</a:t>
            </a:r>
            <a:br>
              <a:rPr sz="1200"/>
            </a:br>
            <a:r>
              <a:rPr b="0" lang="en-US" sz="1200" strike="noStrike" u="none">
                <a:solidFill>
                  <a:srgbClr val="94a3b8"/>
                </a:solidFill>
                <a:effectLst/>
                <a:uFillTx/>
                <a:latin typeface="Calibri"/>
              </a:rPr>
              <a:t>Dernières 5 copies</a:t>
            </a:r>
            <a:br>
              <a:rPr sz="1200"/>
            </a:br>
            <a:r>
              <a:rPr b="0" lang="en-US" sz="1200" strike="noStrike" u="none">
                <a:solidFill>
                  <a:srgbClr val="94a3b8"/>
                </a:solidFill>
                <a:effectLst/>
                <a:uFillTx/>
                <a:latin typeface="Calibri"/>
              </a:rPr>
              <a:t>examinées</a:t>
            </a:r>
            <a:br>
              <a:rPr sz="1200"/>
            </a:br>
            <a:r>
              <a:rPr b="0" lang="en-US" sz="1200" strike="noStrike" u="none">
                <a:solidFill>
                  <a:srgbClr val="94a3b8"/>
                </a:solidFill>
                <a:effectLst/>
                <a:uFillTx/>
                <a:latin typeface="Calibri"/>
              </a:rPr>
              <a:t>Recommandation si</a:t>
            </a:r>
            <a:br>
              <a:rPr sz="1200"/>
            </a:br>
            <a:r>
              <a:rPr b="0" lang="en-US" sz="1200" strike="noStrike" u="none">
                <a:solidFill>
                  <a:srgbClr val="94a3b8"/>
                </a:solidFill>
                <a:effectLst/>
                <a:uFillTx/>
                <a:latin typeface="Calibri"/>
              </a:rPr>
              <a:t>moyenne &lt; 10/20</a:t>
            </a:r>
            <a:endParaRPr b="0" lang="fr-FR" sz="1200" strike="noStrike" u="none">
              <a:solidFill>
                <a:srgbClr val="ffffff"/>
              </a:solidFill>
              <a:effectLst/>
              <a:uFillTx/>
              <a:latin typeface="Arial"/>
            </a:endParaRPr>
          </a:p>
        </p:txBody>
      </p:sp>
      <p:sp>
        <p:nvSpPr>
          <p:cNvPr id="298" name="Rounded Rectangle 16"/>
          <p:cNvSpPr/>
          <p:nvPr/>
        </p:nvSpPr>
        <p:spPr>
          <a:xfrm>
            <a:off x="6217920" y="3474720"/>
            <a:ext cx="269712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99" name="Rectangle 17"/>
          <p:cNvSpPr/>
          <p:nvPr/>
        </p:nvSpPr>
        <p:spPr>
          <a:xfrm>
            <a:off x="6217920" y="3474720"/>
            <a:ext cx="269712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0" name="TextBox 18"/>
          <p:cNvSpPr/>
          <p:nvPr/>
        </p:nvSpPr>
        <p:spPr>
          <a:xfrm>
            <a:off x="6492240" y="3749040"/>
            <a:ext cx="21027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f59e0b"/>
                </a:solidFill>
                <a:effectLst/>
                <a:uFillTx/>
                <a:latin typeface="Calibri"/>
              </a:rPr>
              <a:t>CurriculumGraph</a:t>
            </a:r>
            <a:endParaRPr b="0" lang="fr-FR" sz="1400" strike="noStrike" u="none">
              <a:solidFill>
                <a:srgbClr val="ffffff"/>
              </a:solidFill>
              <a:effectLst/>
              <a:uFillTx/>
              <a:latin typeface="Arial"/>
            </a:endParaRPr>
          </a:p>
        </p:txBody>
      </p:sp>
      <p:sp>
        <p:nvSpPr>
          <p:cNvPr id="301" name="TextBox 19"/>
          <p:cNvSpPr/>
          <p:nvPr/>
        </p:nvSpPr>
        <p:spPr>
          <a:xfrm>
            <a:off x="6400800" y="4389120"/>
            <a:ext cx="23313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Graphe orienté des</a:t>
            </a:r>
            <a:br>
              <a:rPr sz="1200"/>
            </a:br>
            <a:r>
              <a:rPr b="0" lang="en-US" sz="1200" strike="noStrike" u="none">
                <a:solidFill>
                  <a:srgbClr val="94a3b8"/>
                </a:solidFill>
                <a:effectLst/>
                <a:uFillTx/>
                <a:latin typeface="Calibri"/>
              </a:rPr>
              <a:t>parcours d'apprentissage</a:t>
            </a:r>
            <a:br>
              <a:rPr sz="1200"/>
            </a:br>
            <a:r>
              <a:rPr b="0" lang="en-US" sz="1200" strike="noStrike" u="none">
                <a:solidFill>
                  <a:srgbClr val="94a3b8"/>
                </a:solidFill>
                <a:effectLst/>
                <a:uFillTx/>
                <a:latin typeface="Calibri"/>
              </a:rPr>
              <a:t>Liste d'adjacence</a:t>
            </a:r>
            <a:br>
              <a:rPr sz="1200"/>
            </a:br>
            <a:r>
              <a:rPr b="0" lang="en-US" sz="1200" strike="noStrike" u="none">
                <a:solidFill>
                  <a:srgbClr val="94a3b8"/>
                </a:solidFill>
                <a:effectLst/>
                <a:uFillTx/>
                <a:latin typeface="Calibri"/>
              </a:rPr>
              <a:t>Prérequis et dépendances</a:t>
            </a:r>
            <a:br>
              <a:rPr sz="1200"/>
            </a:br>
            <a:r>
              <a:rPr b="0" lang="en-US" sz="1200" strike="noStrike" u="none">
                <a:solidFill>
                  <a:srgbClr val="94a3b8"/>
                </a:solidFill>
                <a:effectLst/>
                <a:uFillTx/>
                <a:latin typeface="Calibri"/>
              </a:rPr>
              <a:t>Optimisation de parcours</a:t>
            </a:r>
            <a:endParaRPr b="0" lang="fr-FR" sz="1200" strike="noStrike" u="none">
              <a:solidFill>
                <a:srgbClr val="ffffff"/>
              </a:solidFill>
              <a:effectLst/>
              <a:uFillTx/>
              <a:latin typeface="Arial"/>
            </a:endParaRPr>
          </a:p>
        </p:txBody>
      </p:sp>
      <p:sp>
        <p:nvSpPr>
          <p:cNvPr id="302" name="Rounded Rectangle 20"/>
          <p:cNvSpPr/>
          <p:nvPr/>
        </p:nvSpPr>
        <p:spPr>
          <a:xfrm>
            <a:off x="9098280" y="3474720"/>
            <a:ext cx="2697120" cy="292572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3" name="Rectangle 21"/>
          <p:cNvSpPr/>
          <p:nvPr/>
        </p:nvSpPr>
        <p:spPr>
          <a:xfrm>
            <a:off x="9098280" y="3474720"/>
            <a:ext cx="2697120" cy="543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4" name="TextBox 22"/>
          <p:cNvSpPr/>
          <p:nvPr/>
        </p:nvSpPr>
        <p:spPr>
          <a:xfrm>
            <a:off x="9372600" y="3749040"/>
            <a:ext cx="210276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400" strike="noStrike" u="none">
                <a:solidFill>
                  <a:srgbClr val="10b981"/>
                </a:solidFill>
                <a:effectLst/>
                <a:uFillTx/>
                <a:latin typeface="Calibri"/>
              </a:rPr>
              <a:t>VoiceCommandProcessor</a:t>
            </a:r>
            <a:endParaRPr b="0" lang="fr-FR" sz="1400" strike="noStrike" u="none">
              <a:solidFill>
                <a:srgbClr val="ffffff"/>
              </a:solidFill>
              <a:effectLst/>
              <a:uFillTx/>
              <a:latin typeface="Arial"/>
            </a:endParaRPr>
          </a:p>
        </p:txBody>
      </p:sp>
      <p:sp>
        <p:nvSpPr>
          <p:cNvPr id="305" name="TextBox 23"/>
          <p:cNvSpPr/>
          <p:nvPr/>
        </p:nvSpPr>
        <p:spPr>
          <a:xfrm>
            <a:off x="9281160" y="4389120"/>
            <a:ext cx="2331360" cy="182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rgbClr val="94a3b8"/>
                </a:solidFill>
                <a:effectLst/>
                <a:uFillTx/>
                <a:latin typeface="Calibri"/>
              </a:rPr>
              <a:t>NLP par regex patterns</a:t>
            </a:r>
            <a:br>
              <a:rPr sz="1200"/>
            </a:br>
            <a:r>
              <a:rPr b="0" lang="en-US" sz="1200" strike="noStrike" u="none">
                <a:solidFill>
                  <a:srgbClr val="94a3b8"/>
                </a:solidFill>
                <a:effectLst/>
                <a:uFillTx/>
                <a:latin typeface="Calibri"/>
              </a:rPr>
              <a:t>4 intentions :</a:t>
            </a:r>
            <a:br>
              <a:rPr sz="1200"/>
            </a:br>
            <a:r>
              <a:rPr b="0" lang="en-US" sz="1200" strike="noStrike" u="none">
                <a:solidFill>
                  <a:srgbClr val="94a3b8"/>
                </a:solidFill>
                <a:effectLst/>
                <a:uFillTx/>
                <a:latin typeface="Calibri"/>
              </a:rPr>
              <a:t>OPEN_LESSON, TAKE_EXAM</a:t>
            </a:r>
            <a:br>
              <a:rPr sz="1200"/>
            </a:br>
            <a:r>
              <a:rPr b="0" lang="en-US" sz="1200" strike="noStrike" u="none">
                <a:solidFill>
                  <a:srgbClr val="94a3b8"/>
                </a:solidFill>
                <a:effectLst/>
                <a:uFillTx/>
                <a:latin typeface="Calibri"/>
              </a:rPr>
              <a:t>GLOBAL_NAV, SHOP</a:t>
            </a:r>
            <a:endParaRPr b="0" lang="fr-FR"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06" name="Rectangle 1"/>
          <p:cNvSpPr/>
          <p:nvPr/>
        </p:nvSpPr>
        <p:spPr>
          <a:xfrm>
            <a:off x="0" y="0"/>
            <a:ext cx="1219140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7" name="Rectangle 2"/>
          <p:cNvSpPr/>
          <p:nvPr/>
        </p:nvSpPr>
        <p:spPr>
          <a:xfrm>
            <a:off x="731520" y="1371600"/>
            <a:ext cx="72720" cy="137124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08" name="TextBox 3"/>
          <p:cNvSpPr/>
          <p:nvPr/>
        </p:nvSpPr>
        <p:spPr>
          <a:xfrm>
            <a:off x="1097280" y="1371600"/>
            <a:ext cx="1828440" cy="73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800" strike="noStrike" u="none">
                <a:solidFill>
                  <a:srgbClr val="f59e0b"/>
                </a:solidFill>
                <a:effectLst/>
                <a:uFillTx/>
                <a:latin typeface="Calibri"/>
              </a:rPr>
              <a:t>09</a:t>
            </a:r>
            <a:endParaRPr b="0" lang="fr-FR" sz="4800" strike="noStrike" u="none">
              <a:solidFill>
                <a:srgbClr val="ffffff"/>
              </a:solidFill>
              <a:effectLst/>
              <a:uFillTx/>
              <a:latin typeface="Arial"/>
            </a:endParaRPr>
          </a:p>
        </p:txBody>
      </p:sp>
      <p:sp>
        <p:nvSpPr>
          <p:cNvPr id="309" name="TextBox 4"/>
          <p:cNvSpPr/>
          <p:nvPr/>
        </p:nvSpPr>
        <p:spPr>
          <a:xfrm>
            <a:off x="1097280" y="2103120"/>
            <a:ext cx="9143640" cy="63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200" strike="noStrike" u="none">
                <a:solidFill>
                  <a:srgbClr val="f8fafc"/>
                </a:solidFill>
                <a:effectLst/>
                <a:uFillTx/>
                <a:latin typeface="Calibri"/>
              </a:rPr>
              <a:t>Stack Technologique</a:t>
            </a:r>
            <a:endParaRPr b="0" lang="fr-FR" sz="3200" strike="noStrike" u="none">
              <a:solidFill>
                <a:srgbClr val="ffffff"/>
              </a:solidFill>
              <a:effectLst/>
              <a:uFillTx/>
              <a:latin typeface="Arial"/>
            </a:endParaRPr>
          </a:p>
        </p:txBody>
      </p:sp>
      <p:sp>
        <p:nvSpPr>
          <p:cNvPr id="310" name="TextBox 5"/>
          <p:cNvSpPr/>
          <p:nvPr/>
        </p:nvSpPr>
        <p:spPr>
          <a:xfrm>
            <a:off x="1097280" y="2743200"/>
            <a:ext cx="9143640" cy="45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94a3b8"/>
                </a:solidFill>
                <a:effectLst/>
                <a:uFillTx/>
                <a:latin typeface="Calibri"/>
              </a:rPr>
              <a:t>Python 3.12 · Django 6.0 · React 19 · 222 tests</a:t>
            </a:r>
            <a:endParaRPr b="0" lang="fr-FR" sz="1600" strike="noStrike" u="none">
              <a:solidFill>
                <a:srgbClr val="ffffff"/>
              </a:solidFill>
              <a:effectLst/>
              <a:uFillTx/>
              <a:latin typeface="Arial"/>
            </a:endParaRPr>
          </a:p>
        </p:txBody>
      </p:sp>
      <p:sp>
        <p:nvSpPr>
          <p:cNvPr id="311" name="Rectangle 6"/>
          <p:cNvSpPr/>
          <p:nvPr/>
        </p:nvSpPr>
        <p:spPr>
          <a:xfrm>
            <a:off x="0" y="6583680"/>
            <a:ext cx="12191400" cy="2739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2" name="TextBox 7"/>
          <p:cNvSpPr/>
          <p:nvPr/>
        </p:nvSpPr>
        <p:spPr>
          <a:xfrm>
            <a:off x="10972800" y="6217920"/>
            <a:ext cx="1096920" cy="456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trike="noStrike" u="none">
                <a:solidFill>
                  <a:srgbClr val="94a3b8"/>
                </a:solidFill>
                <a:effectLst/>
                <a:uFillTx/>
                <a:latin typeface="Calibri"/>
              </a:rPr>
              <a:t>9/12</a:t>
            </a:r>
            <a:endParaRPr b="0" lang="fr-FR" sz="1100" strike="noStrike" u="none">
              <a:solidFill>
                <a:srgbClr val="ffffff"/>
              </a:solidFill>
              <a:effectLst/>
              <a:uFillTx/>
              <a:latin typeface="Arial"/>
            </a:endParaRPr>
          </a:p>
        </p:txBody>
      </p:sp>
      <p:sp>
        <p:nvSpPr>
          <p:cNvPr id="313" name="Rounded Rectangle 8"/>
          <p:cNvSpPr/>
          <p:nvPr/>
        </p:nvSpPr>
        <p:spPr>
          <a:xfrm>
            <a:off x="1285200" y="3474720"/>
            <a:ext cx="1782720" cy="13712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4" name="Rectangle 9"/>
          <p:cNvSpPr/>
          <p:nvPr/>
        </p:nvSpPr>
        <p:spPr>
          <a:xfrm>
            <a:off x="1285200" y="3474720"/>
            <a:ext cx="1782720" cy="54360"/>
          </a:xfrm>
          <a:prstGeom prst="rect">
            <a:avLst/>
          </a:prstGeom>
          <a:solidFill>
            <a:srgbClr val="4f46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5" name="TextBox 10"/>
          <p:cNvSpPr/>
          <p:nvPr/>
        </p:nvSpPr>
        <p:spPr>
          <a:xfrm>
            <a:off x="1376640" y="37490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Python 3.12+</a:t>
            </a:r>
            <a:endParaRPr b="0" lang="fr-FR" sz="1300" strike="noStrike" u="none">
              <a:solidFill>
                <a:srgbClr val="ffffff"/>
              </a:solidFill>
              <a:effectLst/>
              <a:uFillTx/>
              <a:latin typeface="Arial"/>
            </a:endParaRPr>
          </a:p>
        </p:txBody>
      </p:sp>
      <p:sp>
        <p:nvSpPr>
          <p:cNvPr id="316" name="TextBox 11"/>
          <p:cNvSpPr/>
          <p:nvPr/>
        </p:nvSpPr>
        <p:spPr>
          <a:xfrm>
            <a:off x="1376640" y="42062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Langage</a:t>
            </a:r>
            <a:endParaRPr b="0" lang="fr-FR" sz="1100" strike="noStrike" u="none">
              <a:solidFill>
                <a:srgbClr val="ffffff"/>
              </a:solidFill>
              <a:effectLst/>
              <a:uFillTx/>
              <a:latin typeface="Arial"/>
            </a:endParaRPr>
          </a:p>
        </p:txBody>
      </p:sp>
      <p:sp>
        <p:nvSpPr>
          <p:cNvPr id="317" name="Rounded Rectangle 12"/>
          <p:cNvSpPr/>
          <p:nvPr/>
        </p:nvSpPr>
        <p:spPr>
          <a:xfrm>
            <a:off x="3205440" y="3474720"/>
            <a:ext cx="1782720" cy="13712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8" name="Rectangle 13"/>
          <p:cNvSpPr/>
          <p:nvPr/>
        </p:nvSpPr>
        <p:spPr>
          <a:xfrm>
            <a:off x="3205440" y="3474720"/>
            <a:ext cx="1782720" cy="5436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19" name="TextBox 14"/>
          <p:cNvSpPr/>
          <p:nvPr/>
        </p:nvSpPr>
        <p:spPr>
          <a:xfrm>
            <a:off x="3296880" y="37490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Django 6.0.5</a:t>
            </a:r>
            <a:endParaRPr b="0" lang="fr-FR" sz="1300" strike="noStrike" u="none">
              <a:solidFill>
                <a:srgbClr val="ffffff"/>
              </a:solidFill>
              <a:effectLst/>
              <a:uFillTx/>
              <a:latin typeface="Arial"/>
            </a:endParaRPr>
          </a:p>
        </p:txBody>
      </p:sp>
      <p:sp>
        <p:nvSpPr>
          <p:cNvPr id="320" name="TextBox 15"/>
          <p:cNvSpPr/>
          <p:nvPr/>
        </p:nvSpPr>
        <p:spPr>
          <a:xfrm>
            <a:off x="3296880" y="42062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Framework</a:t>
            </a:r>
            <a:endParaRPr b="0" lang="fr-FR" sz="1100" strike="noStrike" u="none">
              <a:solidFill>
                <a:srgbClr val="ffffff"/>
              </a:solidFill>
              <a:effectLst/>
              <a:uFillTx/>
              <a:latin typeface="Arial"/>
            </a:endParaRPr>
          </a:p>
        </p:txBody>
      </p:sp>
      <p:sp>
        <p:nvSpPr>
          <p:cNvPr id="321" name="Rounded Rectangle 16"/>
          <p:cNvSpPr/>
          <p:nvPr/>
        </p:nvSpPr>
        <p:spPr>
          <a:xfrm>
            <a:off x="5125680" y="3474720"/>
            <a:ext cx="1782720" cy="13712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2" name="Rectangle 17"/>
          <p:cNvSpPr/>
          <p:nvPr/>
        </p:nvSpPr>
        <p:spPr>
          <a:xfrm>
            <a:off x="5125680" y="3474720"/>
            <a:ext cx="178272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3" name="TextBox 18"/>
          <p:cNvSpPr/>
          <p:nvPr/>
        </p:nvSpPr>
        <p:spPr>
          <a:xfrm>
            <a:off x="5217120" y="37490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DRF 3.17</a:t>
            </a:r>
            <a:endParaRPr b="0" lang="fr-FR" sz="1300" strike="noStrike" u="none">
              <a:solidFill>
                <a:srgbClr val="ffffff"/>
              </a:solidFill>
              <a:effectLst/>
              <a:uFillTx/>
              <a:latin typeface="Arial"/>
            </a:endParaRPr>
          </a:p>
        </p:txBody>
      </p:sp>
      <p:sp>
        <p:nvSpPr>
          <p:cNvPr id="324" name="TextBox 19"/>
          <p:cNvSpPr/>
          <p:nvPr/>
        </p:nvSpPr>
        <p:spPr>
          <a:xfrm>
            <a:off x="5217120" y="42062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API REST</a:t>
            </a:r>
            <a:endParaRPr b="0" lang="fr-FR" sz="1100" strike="noStrike" u="none">
              <a:solidFill>
                <a:srgbClr val="ffffff"/>
              </a:solidFill>
              <a:effectLst/>
              <a:uFillTx/>
              <a:latin typeface="Arial"/>
            </a:endParaRPr>
          </a:p>
        </p:txBody>
      </p:sp>
      <p:sp>
        <p:nvSpPr>
          <p:cNvPr id="325" name="Rounded Rectangle 20"/>
          <p:cNvSpPr/>
          <p:nvPr/>
        </p:nvSpPr>
        <p:spPr>
          <a:xfrm>
            <a:off x="7045920" y="3474720"/>
            <a:ext cx="1782720" cy="13712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6" name="Rectangle 21"/>
          <p:cNvSpPr/>
          <p:nvPr/>
        </p:nvSpPr>
        <p:spPr>
          <a:xfrm>
            <a:off x="7045920" y="3474720"/>
            <a:ext cx="1782720" cy="5436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27" name="TextBox 22"/>
          <p:cNvSpPr/>
          <p:nvPr/>
        </p:nvSpPr>
        <p:spPr>
          <a:xfrm>
            <a:off x="7137360" y="37490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SimpleJWT 5.5</a:t>
            </a:r>
            <a:endParaRPr b="0" lang="fr-FR" sz="1300" strike="noStrike" u="none">
              <a:solidFill>
                <a:srgbClr val="ffffff"/>
              </a:solidFill>
              <a:effectLst/>
              <a:uFillTx/>
              <a:latin typeface="Arial"/>
            </a:endParaRPr>
          </a:p>
        </p:txBody>
      </p:sp>
      <p:sp>
        <p:nvSpPr>
          <p:cNvPr id="328" name="TextBox 23"/>
          <p:cNvSpPr/>
          <p:nvPr/>
        </p:nvSpPr>
        <p:spPr>
          <a:xfrm>
            <a:off x="7137360" y="42062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Auth JWT</a:t>
            </a:r>
            <a:endParaRPr b="0" lang="fr-FR" sz="1100" strike="noStrike" u="none">
              <a:solidFill>
                <a:srgbClr val="ffffff"/>
              </a:solidFill>
              <a:effectLst/>
              <a:uFillTx/>
              <a:latin typeface="Arial"/>
            </a:endParaRPr>
          </a:p>
        </p:txBody>
      </p:sp>
      <p:sp>
        <p:nvSpPr>
          <p:cNvPr id="329" name="Rounded Rectangle 24"/>
          <p:cNvSpPr/>
          <p:nvPr/>
        </p:nvSpPr>
        <p:spPr>
          <a:xfrm>
            <a:off x="8966160" y="3474720"/>
            <a:ext cx="1782720" cy="137124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0" name="Rectangle 25"/>
          <p:cNvSpPr/>
          <p:nvPr/>
        </p:nvSpPr>
        <p:spPr>
          <a:xfrm>
            <a:off x="8966160" y="3474720"/>
            <a:ext cx="1782720" cy="54360"/>
          </a:xfrm>
          <a:prstGeom prst="rect">
            <a:avLst/>
          </a:prstGeom>
          <a:solidFill>
            <a:srgbClr val="10b98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1" name="TextBox 26"/>
          <p:cNvSpPr/>
          <p:nvPr/>
        </p:nvSpPr>
        <p:spPr>
          <a:xfrm>
            <a:off x="9057600" y="3749040"/>
            <a:ext cx="1599840" cy="288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trike="noStrike" u="none">
                <a:solidFill>
                  <a:srgbClr val="f8fafc"/>
                </a:solidFill>
                <a:effectLst/>
                <a:uFillTx/>
                <a:latin typeface="Calibri"/>
              </a:rPr>
              <a:t>PostgreSQL</a:t>
            </a:r>
            <a:endParaRPr b="0" lang="fr-FR" sz="1300" strike="noStrike" u="none">
              <a:solidFill>
                <a:srgbClr val="ffffff"/>
              </a:solidFill>
              <a:effectLst/>
              <a:uFillTx/>
              <a:latin typeface="Arial"/>
            </a:endParaRPr>
          </a:p>
        </p:txBody>
      </p:sp>
      <p:sp>
        <p:nvSpPr>
          <p:cNvPr id="332" name="TextBox 27"/>
          <p:cNvSpPr/>
          <p:nvPr/>
        </p:nvSpPr>
        <p:spPr>
          <a:xfrm>
            <a:off x="9057600" y="4206240"/>
            <a:ext cx="159984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Base de données</a:t>
            </a:r>
            <a:endParaRPr b="0" lang="fr-FR" sz="1100" strike="noStrike" u="none">
              <a:solidFill>
                <a:srgbClr val="ffffff"/>
              </a:solidFill>
              <a:effectLst/>
              <a:uFillTx/>
              <a:latin typeface="Arial"/>
            </a:endParaRPr>
          </a:p>
        </p:txBody>
      </p:sp>
      <p:sp>
        <p:nvSpPr>
          <p:cNvPr id="333" name="TextBox 30"/>
          <p:cNvSpPr/>
          <p:nvPr/>
        </p:nvSpPr>
        <p:spPr>
          <a:xfrm>
            <a:off x="10149840" y="3749040"/>
            <a:ext cx="1599840" cy="288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endParaRPr b="0" lang="fr-FR" sz="1800" strike="noStrike" u="none">
              <a:solidFill>
                <a:srgbClr val="ffffff"/>
              </a:solidFill>
              <a:effectLst/>
              <a:uFillTx/>
              <a:latin typeface="Arial"/>
            </a:endParaRPr>
          </a:p>
        </p:txBody>
      </p:sp>
      <p:sp>
        <p:nvSpPr>
          <p:cNvPr id="334" name="Rounded Rectangle 32"/>
          <p:cNvSpPr/>
          <p:nvPr/>
        </p:nvSpPr>
        <p:spPr>
          <a:xfrm>
            <a:off x="1285200" y="5120640"/>
            <a:ext cx="2102760" cy="11883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5" name="Rectangle 33"/>
          <p:cNvSpPr/>
          <p:nvPr/>
        </p:nvSpPr>
        <p:spPr>
          <a:xfrm>
            <a:off x="1285200" y="5120640"/>
            <a:ext cx="2102760" cy="54360"/>
          </a:xfrm>
          <a:prstGeom prst="rect">
            <a:avLst/>
          </a:prstGeom>
          <a:solidFill>
            <a:srgbClr val="61daf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6" name="TextBox 34"/>
          <p:cNvSpPr/>
          <p:nvPr/>
        </p:nvSpPr>
        <p:spPr>
          <a:xfrm>
            <a:off x="1376640" y="534924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trike="noStrike" u="none">
                <a:solidFill>
                  <a:srgbClr val="f8fafc"/>
                </a:solidFill>
                <a:effectLst/>
                <a:uFillTx/>
                <a:latin typeface="Calibri"/>
              </a:rPr>
              <a:t>React 19</a:t>
            </a:r>
            <a:endParaRPr b="0" lang="fr-FR" sz="1400" strike="noStrike" u="none">
              <a:solidFill>
                <a:srgbClr val="ffffff"/>
              </a:solidFill>
              <a:effectLst/>
              <a:uFillTx/>
              <a:latin typeface="Arial"/>
            </a:endParaRPr>
          </a:p>
        </p:txBody>
      </p:sp>
      <p:sp>
        <p:nvSpPr>
          <p:cNvPr id="337" name="TextBox 35"/>
          <p:cNvSpPr/>
          <p:nvPr/>
        </p:nvSpPr>
        <p:spPr>
          <a:xfrm>
            <a:off x="1376640" y="5669280"/>
            <a:ext cx="1919880" cy="27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UI Library</a:t>
            </a:r>
            <a:endParaRPr b="0" lang="fr-FR" sz="1100" strike="noStrike" u="none">
              <a:solidFill>
                <a:srgbClr val="ffffff"/>
              </a:solidFill>
              <a:effectLst/>
              <a:uFillTx/>
              <a:latin typeface="Arial"/>
            </a:endParaRPr>
          </a:p>
        </p:txBody>
      </p:sp>
      <p:sp>
        <p:nvSpPr>
          <p:cNvPr id="338" name="Rounded Rectangle 36"/>
          <p:cNvSpPr/>
          <p:nvPr/>
        </p:nvSpPr>
        <p:spPr>
          <a:xfrm>
            <a:off x="3571200" y="5120640"/>
            <a:ext cx="2102760" cy="11883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39" name="Rectangle 37"/>
          <p:cNvSpPr/>
          <p:nvPr/>
        </p:nvSpPr>
        <p:spPr>
          <a:xfrm>
            <a:off x="3571200" y="5120640"/>
            <a:ext cx="2102760" cy="54360"/>
          </a:xfrm>
          <a:prstGeom prst="rect">
            <a:avLst/>
          </a:prstGeom>
          <a:solidFill>
            <a:srgbClr val="646c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0" name="TextBox 38"/>
          <p:cNvSpPr/>
          <p:nvPr/>
        </p:nvSpPr>
        <p:spPr>
          <a:xfrm>
            <a:off x="3662640" y="534924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trike="noStrike" u="none">
                <a:solidFill>
                  <a:srgbClr val="f8fafc"/>
                </a:solidFill>
                <a:effectLst/>
                <a:uFillTx/>
                <a:latin typeface="Calibri"/>
              </a:rPr>
              <a:t>Vite 8</a:t>
            </a:r>
            <a:endParaRPr b="0" lang="fr-FR" sz="1400" strike="noStrike" u="none">
              <a:solidFill>
                <a:srgbClr val="ffffff"/>
              </a:solidFill>
              <a:effectLst/>
              <a:uFillTx/>
              <a:latin typeface="Arial"/>
            </a:endParaRPr>
          </a:p>
        </p:txBody>
      </p:sp>
      <p:sp>
        <p:nvSpPr>
          <p:cNvPr id="341" name="TextBox 39"/>
          <p:cNvSpPr/>
          <p:nvPr/>
        </p:nvSpPr>
        <p:spPr>
          <a:xfrm>
            <a:off x="3662640" y="5669280"/>
            <a:ext cx="1919880" cy="27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Bundler</a:t>
            </a:r>
            <a:endParaRPr b="0" lang="fr-FR" sz="1100" strike="noStrike" u="none">
              <a:solidFill>
                <a:srgbClr val="ffffff"/>
              </a:solidFill>
              <a:effectLst/>
              <a:uFillTx/>
              <a:latin typeface="Arial"/>
            </a:endParaRPr>
          </a:p>
        </p:txBody>
      </p:sp>
      <p:sp>
        <p:nvSpPr>
          <p:cNvPr id="342" name="Rounded Rectangle 40"/>
          <p:cNvSpPr/>
          <p:nvPr/>
        </p:nvSpPr>
        <p:spPr>
          <a:xfrm>
            <a:off x="5857200" y="5120640"/>
            <a:ext cx="2102760" cy="11883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3" name="Rectangle 41"/>
          <p:cNvSpPr/>
          <p:nvPr/>
        </p:nvSpPr>
        <p:spPr>
          <a:xfrm>
            <a:off x="5857200" y="5120640"/>
            <a:ext cx="2102760" cy="54360"/>
          </a:xfrm>
          <a:prstGeom prst="rect">
            <a:avLst/>
          </a:prstGeom>
          <a:solidFill>
            <a:srgbClr val="06b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4" name="TextBox 42"/>
          <p:cNvSpPr/>
          <p:nvPr/>
        </p:nvSpPr>
        <p:spPr>
          <a:xfrm>
            <a:off x="5948640" y="534924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trike="noStrike" u="none">
                <a:solidFill>
                  <a:srgbClr val="f8fafc"/>
                </a:solidFill>
                <a:effectLst/>
                <a:uFillTx/>
                <a:latin typeface="Calibri"/>
              </a:rPr>
              <a:t>Tailwind 3</a:t>
            </a:r>
            <a:endParaRPr b="0" lang="fr-FR" sz="1400" strike="noStrike" u="none">
              <a:solidFill>
                <a:srgbClr val="ffffff"/>
              </a:solidFill>
              <a:effectLst/>
              <a:uFillTx/>
              <a:latin typeface="Arial"/>
            </a:endParaRPr>
          </a:p>
        </p:txBody>
      </p:sp>
      <p:sp>
        <p:nvSpPr>
          <p:cNvPr id="345" name="TextBox 43"/>
          <p:cNvSpPr/>
          <p:nvPr/>
        </p:nvSpPr>
        <p:spPr>
          <a:xfrm>
            <a:off x="5948640" y="5669280"/>
            <a:ext cx="1919880" cy="27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CSS</a:t>
            </a:r>
            <a:endParaRPr b="0" lang="fr-FR" sz="1100" strike="noStrike" u="none">
              <a:solidFill>
                <a:srgbClr val="ffffff"/>
              </a:solidFill>
              <a:effectLst/>
              <a:uFillTx/>
              <a:latin typeface="Arial"/>
            </a:endParaRPr>
          </a:p>
        </p:txBody>
      </p:sp>
      <p:sp>
        <p:nvSpPr>
          <p:cNvPr id="346" name="Rounded Rectangle 44"/>
          <p:cNvSpPr/>
          <p:nvPr/>
        </p:nvSpPr>
        <p:spPr>
          <a:xfrm>
            <a:off x="8143200" y="5120640"/>
            <a:ext cx="2102760" cy="11883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7" name="Rectangle 45"/>
          <p:cNvSpPr/>
          <p:nvPr/>
        </p:nvSpPr>
        <p:spPr>
          <a:xfrm>
            <a:off x="8071200" y="5120640"/>
            <a:ext cx="2102760" cy="54360"/>
          </a:xfrm>
          <a:prstGeom prst="rect">
            <a:avLst/>
          </a:prstGeom>
          <a:solidFill>
            <a:srgbClr val="0055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720" bIns="972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48" name="TextBox 46"/>
          <p:cNvSpPr/>
          <p:nvPr/>
        </p:nvSpPr>
        <p:spPr>
          <a:xfrm>
            <a:off x="8162640" y="5349240"/>
            <a:ext cx="1919880" cy="36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400" strike="noStrike" u="none">
                <a:solidFill>
                  <a:srgbClr val="f8fafc"/>
                </a:solidFill>
                <a:effectLst/>
                <a:uFillTx/>
                <a:latin typeface="Calibri"/>
              </a:rPr>
              <a:t>Framer Motion</a:t>
            </a:r>
            <a:endParaRPr b="0" lang="fr-FR" sz="1400" strike="noStrike" u="none">
              <a:solidFill>
                <a:srgbClr val="ffffff"/>
              </a:solidFill>
              <a:effectLst/>
              <a:uFillTx/>
              <a:latin typeface="Arial"/>
            </a:endParaRPr>
          </a:p>
        </p:txBody>
      </p:sp>
      <p:sp>
        <p:nvSpPr>
          <p:cNvPr id="349" name="TextBox 47"/>
          <p:cNvSpPr/>
          <p:nvPr/>
        </p:nvSpPr>
        <p:spPr>
          <a:xfrm>
            <a:off x="8162640" y="5669280"/>
            <a:ext cx="1919880" cy="27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100" strike="noStrike" u="none">
                <a:solidFill>
                  <a:srgbClr val="94a3b8"/>
                </a:solidFill>
                <a:effectLst/>
                <a:uFillTx/>
                <a:latin typeface="Calibri"/>
              </a:rPr>
              <a:t>Animations</a:t>
            </a:r>
            <a:endParaRPr b="0" lang="fr-FR" sz="1100" strike="noStrike" u="none">
              <a:solidFill>
                <a:srgbClr val="ffffff"/>
              </a:solidFill>
              <a:effectLst/>
              <a:uFillTx/>
              <a:latin typeface="Arial"/>
            </a:endParaRPr>
          </a:p>
        </p:txBody>
      </p:sp>
      <p:sp>
        <p:nvSpPr>
          <p:cNvPr id="350" name="Rounded Rectangle 52"/>
          <p:cNvSpPr/>
          <p:nvPr/>
        </p:nvSpPr>
        <p:spPr>
          <a:xfrm>
            <a:off x="457200" y="6492240"/>
            <a:ext cx="11246760" cy="273960"/>
          </a:xfrm>
          <a:prstGeom prst="roundRect">
            <a:avLst>
              <a:gd name="adj" fmla="val 16667"/>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51" name="TextBox 53"/>
          <p:cNvSpPr/>
          <p:nvPr/>
        </p:nvSpPr>
        <p:spPr>
          <a:xfrm>
            <a:off x="731520" y="6492240"/>
            <a:ext cx="10789560" cy="273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rgbClr val="f59e0b"/>
                </a:solidFill>
                <a:effectLst/>
                <a:uFillTx/>
                <a:latin typeface="Calibri"/>
              </a:rPr>
              <a:t>222 tests unitaires (11 fichiers) · 15 tests E2E Playwright · Couverture de code · CI/CD</a:t>
            </a:r>
            <a:endParaRPr b="0" lang="fr-FR"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352" name="Rectangle 1"/>
          <p:cNvSpPr/>
          <p:nvPr/>
        </p:nvSpPr>
        <p:spPr>
          <a:xfrm>
            <a:off x="0" y="0"/>
            <a:ext cx="12191400" cy="3200040"/>
          </a:xfrm>
          <a:prstGeom prst="rect">
            <a:avLst/>
          </a:prstGeom>
          <a:solidFill>
            <a:srgbClr val="3730a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53" name="Rectangle 2"/>
          <p:cNvSpPr/>
          <p:nvPr/>
        </p:nvSpPr>
        <p:spPr>
          <a:xfrm>
            <a:off x="0" y="3154680"/>
            <a:ext cx="12191400" cy="72720"/>
          </a:xfrm>
          <a:prstGeom prst="rect">
            <a:avLst/>
          </a:prstGeom>
          <a:solidFill>
            <a:srgbClr val="f59e0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54" name="TextBox 3"/>
          <p:cNvSpPr/>
          <p:nvPr/>
        </p:nvSpPr>
        <p:spPr>
          <a:xfrm>
            <a:off x="1371600" y="914400"/>
            <a:ext cx="9143640" cy="109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6000" strike="noStrike" u="none">
                <a:solidFill>
                  <a:srgbClr val="f8fafc"/>
                </a:solidFill>
                <a:effectLst/>
                <a:uFillTx/>
                <a:latin typeface="Calibri"/>
              </a:rPr>
              <a:t>ENENI</a:t>
            </a:r>
            <a:endParaRPr b="0" lang="fr-FR" sz="6000" strike="noStrike" u="none">
              <a:solidFill>
                <a:srgbClr val="ffffff"/>
              </a:solidFill>
              <a:effectLst/>
              <a:uFillTx/>
              <a:latin typeface="Arial"/>
            </a:endParaRPr>
          </a:p>
        </p:txBody>
      </p:sp>
      <p:sp>
        <p:nvSpPr>
          <p:cNvPr id="355" name="TextBox 4"/>
          <p:cNvSpPr/>
          <p:nvPr/>
        </p:nvSpPr>
        <p:spPr>
          <a:xfrm>
            <a:off x="1371600" y="2011680"/>
            <a:ext cx="9143640" cy="54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trike="noStrike" u="none">
                <a:solidFill>
                  <a:srgbClr val="06b6d4"/>
                </a:solidFill>
                <a:effectLst/>
                <a:uFillTx/>
                <a:latin typeface="Calibri"/>
              </a:rPr>
              <a:t>Espace Numérique d'Éducation et de Nouvelles Initiatives</a:t>
            </a:r>
            <a:endParaRPr b="0" lang="fr-FR" sz="2200" strike="noStrike" u="none">
              <a:solidFill>
                <a:srgbClr val="ffffff"/>
              </a:solidFill>
              <a:effectLst/>
              <a:uFillTx/>
              <a:latin typeface="Arial"/>
            </a:endParaRPr>
          </a:p>
        </p:txBody>
      </p:sp>
      <p:sp>
        <p:nvSpPr>
          <p:cNvPr id="356" name="TextBox 5"/>
          <p:cNvSpPr/>
          <p:nvPr/>
        </p:nvSpPr>
        <p:spPr>
          <a:xfrm>
            <a:off x="1371600" y="347472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f8fafc"/>
                </a:solidFill>
                <a:effectLst/>
                <a:uFillTx/>
                <a:latin typeface="Calibri"/>
              </a:rPr>
              <a:t>✓  19 modèles de données · 21 fonctionnalités implémentées</a:t>
            </a:r>
            <a:endParaRPr b="0" lang="fr-FR" sz="1600" strike="noStrike" u="none">
              <a:solidFill>
                <a:srgbClr val="ffffff"/>
              </a:solidFill>
              <a:effectLst/>
              <a:uFillTx/>
              <a:latin typeface="Arial"/>
            </a:endParaRPr>
          </a:p>
        </p:txBody>
      </p:sp>
      <p:sp>
        <p:nvSpPr>
          <p:cNvPr id="357" name="TextBox 6"/>
          <p:cNvSpPr/>
          <p:nvPr/>
        </p:nvSpPr>
        <p:spPr>
          <a:xfrm>
            <a:off x="1371600" y="397764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f8fafc"/>
                </a:solidFill>
                <a:effectLst/>
                <a:uFillTx/>
                <a:latin typeface="Calibri"/>
              </a:rPr>
              <a:t>✓  30+ ViewSets · 60+ endpoints API REST documentés</a:t>
            </a:r>
            <a:endParaRPr b="0" lang="fr-FR" sz="1600" strike="noStrike" u="none">
              <a:solidFill>
                <a:srgbClr val="ffffff"/>
              </a:solidFill>
              <a:effectLst/>
              <a:uFillTx/>
              <a:latin typeface="Arial"/>
            </a:endParaRPr>
          </a:p>
        </p:txBody>
      </p:sp>
      <p:sp>
        <p:nvSpPr>
          <p:cNvPr id="358" name="TextBox 7"/>
          <p:cNvSpPr/>
          <p:nvPr/>
        </p:nvSpPr>
        <p:spPr>
          <a:xfrm>
            <a:off x="1371600" y="448056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f8fafc"/>
                </a:solidFill>
                <a:effectLst/>
                <a:uFillTx/>
                <a:latin typeface="Calibri"/>
              </a:rPr>
              <a:t>✓  5 services métier : Pédagogie, Examens, Visio, Boutique, IA</a:t>
            </a:r>
            <a:endParaRPr b="0" lang="fr-FR" sz="1600" strike="noStrike" u="none">
              <a:solidFill>
                <a:srgbClr val="ffffff"/>
              </a:solidFill>
              <a:effectLst/>
              <a:uFillTx/>
              <a:latin typeface="Arial"/>
            </a:endParaRPr>
          </a:p>
        </p:txBody>
      </p:sp>
      <p:sp>
        <p:nvSpPr>
          <p:cNvPr id="359" name="TextBox 8"/>
          <p:cNvSpPr/>
          <p:nvPr/>
        </p:nvSpPr>
        <p:spPr>
          <a:xfrm>
            <a:off x="1371600" y="498348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f8fafc"/>
                </a:solidFill>
                <a:effectLst/>
                <a:uFillTx/>
                <a:latin typeface="Calibri"/>
              </a:rPr>
              <a:t>✓  Architecture Django propre, modulaire et sécurisée</a:t>
            </a:r>
            <a:endParaRPr b="0" lang="fr-FR" sz="1600" strike="noStrike" u="none">
              <a:solidFill>
                <a:srgbClr val="ffffff"/>
              </a:solidFill>
              <a:effectLst/>
              <a:uFillTx/>
              <a:latin typeface="Arial"/>
            </a:endParaRPr>
          </a:p>
        </p:txBody>
      </p:sp>
      <p:sp>
        <p:nvSpPr>
          <p:cNvPr id="360" name="TextBox 9"/>
          <p:cNvSpPr/>
          <p:nvPr/>
        </p:nvSpPr>
        <p:spPr>
          <a:xfrm>
            <a:off x="1371600" y="5486400"/>
            <a:ext cx="9143640" cy="36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600" strike="noStrike" u="none">
                <a:solidFill>
                  <a:srgbClr val="f8fafc"/>
                </a:solidFill>
                <a:effectLst/>
                <a:uFillTx/>
                <a:latin typeface="Calibri"/>
              </a:rPr>
              <a:t>✓  222 tests · 3 langues · Multi-établissements</a:t>
            </a:r>
            <a:endParaRPr b="0" lang="fr-FR" sz="1600" strike="noStrike" u="none">
              <a:solidFill>
                <a:srgbClr val="ffffff"/>
              </a:solidFill>
              <a:effectLst/>
              <a:uFillTx/>
              <a:latin typeface="Arial"/>
            </a:endParaRPr>
          </a:p>
        </p:txBody>
      </p:sp>
      <p:sp>
        <p:nvSpPr>
          <p:cNvPr id="361" name="Rectangle 10"/>
          <p:cNvSpPr/>
          <p:nvPr/>
        </p:nvSpPr>
        <p:spPr>
          <a:xfrm>
            <a:off x="0" y="6217920"/>
            <a:ext cx="12191400" cy="63972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62" name="TextBox 11"/>
          <p:cNvSpPr/>
          <p:nvPr/>
        </p:nvSpPr>
        <p:spPr>
          <a:xfrm>
            <a:off x="1371600" y="6263640"/>
            <a:ext cx="9143640" cy="456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200" strike="noStrike" u="none">
                <a:solidFill>
                  <a:srgbClr val="f59e0b"/>
                </a:solidFill>
                <a:effectLst/>
                <a:uFillTx/>
                <a:latin typeface="Calibri"/>
              </a:rPr>
              <a:t>Merci de votre attention — Questions ?</a:t>
            </a:r>
            <a:endParaRPr b="0" lang="fr-FR" sz="2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LibreOffice/25.2.3.2$Linux_X86_64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dcterms:modified xsi:type="dcterms:W3CDTF">2026-06-01T07:55:03Z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